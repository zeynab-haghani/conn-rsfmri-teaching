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7" r:id="rId2"/>
    <p:sldId id="259" r:id="rId3"/>
    <p:sldId id="260" r:id="rId4"/>
    <p:sldId id="261" r:id="rId5"/>
    <p:sldId id="262" r:id="rId6"/>
    <p:sldId id="263" r:id="rId7"/>
    <p:sldId id="264" r:id="rId8"/>
    <p:sldId id="265" r:id="rId9"/>
    <p:sldId id="266" r:id="rId10"/>
    <p:sldId id="267" r:id="rId11"/>
    <p:sldId id="258" r:id="rId12"/>
    <p:sldId id="271" r:id="rId13"/>
    <p:sldId id="273" r:id="rId14"/>
    <p:sldId id="274" r:id="rId15"/>
    <p:sldId id="275" r:id="rId16"/>
    <p:sldId id="276" r:id="rId17"/>
    <p:sldId id="277" r:id="rId18"/>
    <p:sldId id="278" r:id="rId19"/>
    <p:sldId id="269" r:id="rId20"/>
    <p:sldId id="27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00A2526-ED9A-7049-8728-FF991F5E1688}">
          <p14:sldIdLst/>
        </p14:section>
        <p14:section name="Untitled Section" id="{65A3C4CA-462A-2A49-A060-5732C2AA78F6}">
          <p14:sldIdLst/>
        </p14:section>
        <p14:section name="Untitled Section" id="{887AF9CD-2FB9-C846-8C75-D4EDACC20506}">
          <p14:sldIdLst>
            <p14:sldId id="257"/>
            <p14:sldId id="259"/>
            <p14:sldId id="260"/>
            <p14:sldId id="261"/>
            <p14:sldId id="262"/>
            <p14:sldId id="263"/>
            <p14:sldId id="264"/>
            <p14:sldId id="265"/>
            <p14:sldId id="266"/>
            <p14:sldId id="267"/>
            <p14:sldId id="258"/>
            <p14:sldId id="271"/>
            <p14:sldId id="273"/>
            <p14:sldId id="274"/>
            <p14:sldId id="275"/>
            <p14:sldId id="276"/>
            <p14:sldId id="277"/>
            <p14:sldId id="27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19"/>
    <p:restoredTop sz="94703"/>
  </p:normalViewPr>
  <p:slideViewPr>
    <p:cSldViewPr snapToGrid="0">
      <p:cViewPr varScale="1">
        <p:scale>
          <a:sx n="63" d="100"/>
          <a:sy n="63" d="100"/>
        </p:scale>
        <p:origin x="192" y="1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4T14:31:52.109"/>
    </inkml:context>
    <inkml:brush xml:id="br0">
      <inkml:brushProperty name="width" value="0.035" units="cm"/>
      <inkml:brushProperty name="height" value="0.035" units="cm"/>
      <inkml:brushProperty name="color" value="#FFFFFF"/>
    </inkml:brush>
  </inkml:definitions>
  <inkml:trace contextRef="#ctx0" brushRef="#br0">85 189 24575,'0'-6'0,"0"19"0,0 4 0,0 21 0,0-2 0,0 0 0,0-2 0,0-4 0,0-4 0,0-2 0,0-6 0,0-1 0,0-1 0,0-2 0,0 0 0,0-2 0,0-2 0,0-4 0,0-7 0,0-7 0,0-8 0,0-6 0,0-4 0,0-1 0,0 1 0,0 2 0,0 0 0,0 0 0,2 2 0,0 1 0,0 3 0,-1 4 0,1 1 0,1 1 0,1 1 0,-1 0 0,0 4 0,0 3 0,1 4 0,-1 6 0,-1 10 0,-2 7 0,0 5 0,0 0 0,0-1 0,0-3 0,0-1 0,0-5 0,0-1 0,0-2 0,0-3 0,0-4 0,0-9 0,0-10 0,1-9 0,1-5 0,2-3 0,0 1 0,-2 4 0,0 3 0,-2 5 0,0 5 0,0 2 0,0 2 0,0-1 0,0-1 0,0-1 0,0 0 0,0 1 0,0-1 0,0 1 0,0 1 0,0-1 0,0 0 0,0 0 0,0 0 0,0 2 0,-1 2 0,-1-1 0,0-1 0,1-3 0,-2-5 0,1-3 0,0-3 0,0 4 0,2 4 0,0 9 0,0 15 0,0 1 0,0 9 0,0-4 0,0 2 0,0 3 0,2-1 0,0-1 0,1-3 0,1-1 0,-1-1 0,0-3 0,-1-1 0,0 0 0,0-2 0,1-2 0,1-6 0,-2-6 0,0-6 0,-2-5 0,0-2 0,0-2 0,0-1 0,0 1 0,0 0 0,0 3 0,0 3 0,0 1 0,0 3 0,0 0 0,0 1 0,0 0 0,0 0 0,0 1 0,0 1 0,0 0 0,0-1 0,0 3 0,0 3 0,0 7 0,2 6 0,3 4 0,0 2 0,2 3 0,-2-2 0,-1 0 0,0-3 0,-2-2 0,-1-2 0,-1-4 0,0-3 0,0-6 0,0-5 0,0-6 0,0-2 0,0-3 0,0 1 0,0 0 0,-1 2 0,-1 1 0,-1 3 0,0 2 0,-1 2 0,1 2 0,0 0 0,0 1 0,0 0 0,0 0 0,-1-1 0,0 2 0,-1 0 0,0 2 0,0 0 0,-1 1 0,-1 3 0,-3 9 0,-3 12 0,-1 10 0,1 7 0,2 0 0,3-6 0,2-4 0,2-8 0,3-4 0,1-4 0,0-4 0,-1-3 0,-3-3 0,0-5 0,-1-7 0,1-9 0,3-8 0,1-10 0,0-6 0,0-1 0,0 2 0,0 8 0,0 9 0,0 6 0,0 8 0,0 8 0,1 13 0,3 8 0,2 6 0,1-2 0,-2-2 0,0-3 0,-1-4 0,-2 0 0,-1-6 0,-1-8 0,0-10 0,-3-11 0,-2-7 0,-3-3 0,1 2 0,0 3 0,3 3 0,1 3 0,2 1 0,1 2 0,0-3 0,-2 1 0,-1-3 0,-2 1 0,-1 1 0,3 2 0,1 2 0,2 5 0,0 6 0,0 1 0,0 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4T14:31:53.876"/>
    </inkml:context>
    <inkml:brush xml:id="br0">
      <inkml:brushProperty name="width" value="0.035" units="cm"/>
      <inkml:brushProperty name="height" value="0.035" units="cm"/>
      <inkml:brushProperty name="color" value="#FFFFFF"/>
    </inkml:brush>
  </inkml:definitions>
  <inkml:trace contextRef="#ctx0" brushRef="#br0">24 1 24575,'0'19'0,"0"4"0,0 7 0,0 0 0,0-4 0,0-5 0,0-5 0,0-2 0,0 1 0,0-1 0,0 2 0,0 2 0,0 2 0,0 3 0,0 0 0,0 0 0,0 0 0,0-2 0,0-2 0,0-7 0,0-7 0,0-8 0,0-9 0,-2-7 0,-1-5 0,-1-2 0,-1-2 0,1 1 0,1 2 0,1 2 0,2 1 0,0 3 0,0 3 0,0 2 0,0 3 0,0 2 0,0-1 0,0 1 0,0-1 0,0 1 0,0 0 0,0 1 0,0 0 0,0 1 0,0 1 0,0 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4T14:31:58.209"/>
    </inkml:context>
    <inkml:brush xml:id="br0">
      <inkml:brushProperty name="width" value="0.035" units="cm"/>
      <inkml:brushProperty name="height" value="0.035" units="cm"/>
      <inkml:brushProperty name="color" value="#FFFFFF"/>
    </inkml:brush>
  </inkml:definitions>
  <inkml:trace contextRef="#ctx0" brushRef="#br0">43 759 24575,'0'10'0,"0"5"0,0 7 0,0 7 0,0 4 0,0-1 0,0-4 0,0-7 0,0-4 0,0-7 0,0-6 0,-2-6 0,0-9 0,-1-6 0,-1-12 0,2-6 0,-2-5 0,1 2 0,0 6 0,2 4 0,1 4 0,0 0 0,0 3 0,0 1 0,0 3 0,0 5 0,0 3 0,0 1 0,0 2 0,0-1 0,0 0 0,0-1 0,0 1 0,0 1 0,0-1 0,0 4 0,0 13 0,0 2 0,0 13 0,0-4 0,0 2 0,0 1 0,0-1 0,0 1 0,0-2 0,0 1 0,2-2 0,0-2 0,2 0 0,-1-3 0,1 1 0,-2-3 0,1-2 0,0-3 0,-1-2 0,-1 1 0,0 1 0,1-1 0,0 2 0,-1-1 0,1 2 0,-2 1 0,0 1 0,0 2 0,2-1 0,-1-1 0,1-2 0,-1-2 0,1-3 0,1-1 0,2-2 0,2-3 0,-2-3 0,-2-7 0,-2-6 0,-1-8 0,0-2 0,0-3 0,0 0 0,0-1 0,0 0 0,0 0 0,0 2 0,0 5 0,0 2 0,0 2 0,0 2 0,0-5 0,-1-5 0,-2-8 0,-4-11 0,-1-8 0,-2-5 0,1 1 0,1 6 0,2 8 0,2 7 0,1 6 0,0 3 0,1 8 0,0 3 0,0 5 0,2 1 0,0 1 0,0-2 0,-1 0 0,-1 1 0,0 3 0,1 10 0,0 11 0,1 12 0,0 10 0,2 14 0,2 4 0,3 6 0,3 1 0,1-6 0,3 0 0,2 0 0,2-2 0,-3-4 0,-4-7 0,-4-10 0,-3-8 0,-2-4 0,-1-3 0,1-4 0,0-1 0,0-2 0,-1-5 0,-1-7 0,0-10 0,-2-11 0,-4-12 0,-3-6 0,0-3 0,1 4 0,2 8 0,2 4 0,1 5 0,1 0 0,-2-3 0,0-2 0,-2-4 0,0-4 0,0-5 0,-1 0 0,2 2 0,1 4 0,0 5 0,0 2 0,1 3 0,-1 2 0,2 1 0,-1 1 0,0 1 0,0 2 0,-3 2 0,-1 2 0,3 7 0,-1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4T16:43:43.343"/>
    </inkml:context>
    <inkml:brush xml:id="br0">
      <inkml:brushProperty name="width" value="0.035" units="cm"/>
      <inkml:brushProperty name="height" value="0.035" units="cm"/>
      <inkml:brushProperty name="color" value="#FFFFFF"/>
    </inkml:brush>
  </inkml:definitions>
  <inkml:trace contextRef="#ctx0" brushRef="#br0">0 1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4T14:52:08.369"/>
    </inkml:context>
    <inkml:brush xml:id="br0">
      <inkml:brushProperty name="width" value="0.35" units="cm"/>
      <inkml:brushProperty name="height" value="0.35" units="cm"/>
      <inkml:brushProperty name="color" value="#FFFFFF"/>
    </inkml:brush>
  </inkml:definitions>
  <inkml:trace contextRef="#ctx0" brushRef="#br0">20 1883 24575,'0'-34'0,"0"0"0,0 10 0,0 1 0,0 2 0,0 4 0,0 0 0,0-4 0,0-1 0,0-2 0,0 3 0,0-1 0,0-1 0,0-3 0,0-4 0,0-1 0,0 3 0,1 3 0,1 5 0,1 4 0,0 0 0,0 0 0,0 0 0,-1-3 0,1-2 0,0 0 0,-1-2 0,-1 2 0,1 2 0,-2 4 0,1-3 0,3-6 0,1-6 0,-1-4 0,-2 4 0,-2 8 0,0 7 0,0 6 0,0 0 0,0-4 0,0-6 0,0-6 0,0-1 0,0 1 0,0 4 0,0 2 0,0 0 0,0 0 0,0 3 0,0 1 0,0 3 0,0 1 0,0-1 0,0-2 0,0 0 0,0 0 0,0 1 0,0 2 0,0 2 0,-4-3 0,3 0 0,-4-4 0,2 2 0,-1-1 0,1 2 0,2 3 0,-2 2 0,2 0 0,-2 0 0,0-3 0,1 0 0,0-1 0,2-2 0,0 0 0,-2-1 0,0-1 0,0-3 0,0-4 0,2-2 0,0 2 0,0 2 0,-2 6 0,0 4 0,0 1 0,1 1 0,1 0 0,-3-3 0,3 2 0,-3-3 0,2 3 0,0 0 0,0 1 0,-1-1 0,0-2 0,2-3 0,-1-2 0,1 0 0,0 1 0,0-1 0,0-3 0,0-3 0,0-3 0,0 1 0,0 3 0,0 5 0,0 4 0,0 6 0,0 4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4T14:52:02.752"/>
    </inkml:context>
    <inkml:brush xml:id="br0">
      <inkml:brushProperty name="width" value="0.35" units="cm"/>
      <inkml:brushProperty name="height" value="0.35" units="cm"/>
      <inkml:brushProperty name="color" value="#FFFFFF"/>
    </inkml:brush>
  </inkml:definitions>
  <inkml:trace contextRef="#ctx0" brushRef="#br0">120 2821 24575,'0'-40'0,"0"0"0,0-3 0,0-3 0,-1-24 0,-3 15 0,-2-12 0,-3 31 0,3 6 0,2 1 0,2-4 0,0-3 0,0-4 0,-1-2 0,1-1 0,1 0 0,-1-1 0,-2 0 0,-3 1 0,0 0 0,1 1 0,0 2 0,2 6 0,2 6 0,-3 3 0,1-4 0,-2-6 0,0-5 0,-1 4 0,1 9 0,3 10 0,1 6 0,2 0 0,0-1 0,-1 3 0,1 33 0,0-2 0,0 30 0,1-19 0,0-1 0,3 0 0,3 4 0,1 8 0,1 13 0,4 13 0,1 8 0,-1-5 0,-4-16 0,-2-19 0,-2-15 0,1-6 0,2 0 0,0 2 0,1 4 0,1 2 0,0 0 0,0 3 0,0 6 0,0 10 0,1 4 0,0-1 0,-2-11 0,-5-11 0,-3-9 0,-1-9 0,-3-41 0,3 10 0,-3-35 0,1 16 0,-1-9 0,-4-20 0,-2-16 0,1-2 0,0 2 0,3 14 0,1 6 0,0 2 0,-1-2 0,-1-2 0,0 4 0,2 5 0,-1 4 0,0 6 0,-1 3 0,1 7 0,1 10 0,2 10 0,2 6 0,0-3 0,0-7 0,0-13 0,-2-6 0,0-3 0,-1 3 0,2-1 0,1 0 0,0 1 0,0-1 0,0 7 0,0 3 0,-1 1 0,-1-5 0,-1-7 0,1-5 0,1-1 0,1-3 0,0-6 0,0-3 0,0-1 0,0 7 0,0 13 0,0 13 0,0 9 0,0 7 0,0-1 0,0-3 0,0-3 0,0-3 0,0 0 0,0-4 0,0-1 0,0 5 0,0 4 0,-1 9 0,-2 6 0,0 4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4T14:52:04.919"/>
    </inkml:context>
    <inkml:brush xml:id="br0">
      <inkml:brushProperty name="width" value="0.35" units="cm"/>
      <inkml:brushProperty name="height" value="0.35" units="cm"/>
      <inkml:brushProperty name="color" value="#FFFFFF"/>
    </inkml:brush>
  </inkml:definitions>
  <inkml:trace contextRef="#ctx0" brushRef="#br0">1 1 24575,'26'0'0,"-3"0"0,-12 0 0,0 0 0,-2 0 0,1 0 0,-1 1 0,-2 6 0,-2 5 0,-4 9 0,-1 5 0,0 3 0,-2 1 0,-1-2 0,-1-3 0,0-2 0,3-2 0,1 0 0,0 0 0,0 2 0,0 2 0,0 1 0,0-1 0,0 0 0,0-4 0,0 0 0,0-1 0,0-1 0,0 0 0,0 0 0,0-1 0,0 3 0,0 0 0,0 4 0,0 3 0,0 2 0,0 1 0,0-1 0,0 0 0,0-1 0,0-2 0,0-1 0,0-3 0,0-2 0,0 2 0,0 0 0,0-2 0,0 0 0,0 0 0,0 1 0,0 3 0,0 4 0,1 1 0,1 0 0,0-1 0,0-3 0,-2-3 0,0 0 0,0-4 0,0-1 0,0-2 0,0-1 0,0-3 0,0 0 0,0-1 0,0-1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4T14:52:18.236"/>
    </inkml:context>
    <inkml:brush xml:id="br0">
      <inkml:brushProperty name="width" value="0.35" units="cm"/>
      <inkml:brushProperty name="height" value="0.35" units="cm"/>
      <inkml:brushProperty name="color" value="#FFFFFF"/>
    </inkml:brush>
  </inkml:definitions>
  <inkml:trace contextRef="#ctx0" brushRef="#br0">0 17 24575,'32'0'0,"-4"0"0,-8 0 0,0 0 0,7-2 0,1-1 0,1 1 0,-2 0 0,-6 0 0,-3 0 0,-2 0 0,-1 1 0,-1 1 0,-3 0 0,0 0 0,-3 0 0,3 0 0,-5 4 0,1 8 0,-7 4 0,-6 9 0,-5 0 0,-3 6 0,-2 1 0,1 0 0,3-4 0,3-4 0,3-3 0,0-2 0,2 2 0,-1 3 0,1 4 0,0 4 0,1 3 0,0 3 0,-1 0 0,1 1 0,-1-2 0,1-1 0,0-4 0,-1-2 0,1-2 0,0-3 0,0-2 0,-1 0 0,-1-2 0,1 0 0,0 0 0,0 0 0,1 0 0,-3 2 0,2 3 0,-2 1 0,1 0 0,0-4 0,-1 0 0,1-3 0,1-1 0,-1 1 0,2-2 0,1-1 0,0 1 0,0-1 0,0 1 0,-2 3 0,1 1 0,0 1 0,0 0 0,0 3 0,-1-1 0,-1 3 0,0 0 0,0-4 0,1-1 0,2-2 0,0 1 0,-1 1 0,1 2 0,-2 0 0,2-2 0,1-1 0,-1-4 0,0 1 0,0-1 0,0-1 0,1 1 0,1-1 0,0-1 0,0 0 0,0-1 0,0-1 0,0 2 0,0 2 0,0 1 0,0 1 0,0-1 0,0 0 0,0 2 0,0-2 0,0 1 0,0-1 0,0-3 0,0-5 0,0-57 0,0 8 0,0-44 0,0 35 0,0 3 0,0 10 0,0 5 0,0 3 0,0 7 0,0 1 0,0 2 0,0 2 0,0 2 0,0-3 0,0-4 0,2-11 0,1-12 0,2-10 0,-1-4 0,-1 5 0,-1 16 0,0 13 0,-1 10 0,1 5 0,-2-4 0,0-6 0,2-10 0,1-12 0,1-9 0,0-6 0,-2-1 0,2 1 0,-2-1 0,1 0 0,0-1 0,0 1 0,1 6 0,0 7 0,-1 5 0,1 3 0,-2 1 0,1 4 0,-1 5 0,0 10 0,3 5 0,3 6 0,3 12 0,-1 4 0,0 11 0,-4 0 0,-2 2 0,-3 0 0,0 2 0,-1 3 0,0 9 0,1 13 0,3 15 0,4 11 0,4 4 0,3-7 0,-4-13 0,-3-15 0,-3-15 0,-2-10 0,-1-7 0,0-7 0,4-45 0,-4 13 0,2-35 0,-4 32 0,0 5 0,-1 8 0,-1 7 0,0 38 0,1-13 0,1 26 0,0-22 0,-2-3 0,0 0 0,-2-2 0,0-1 0,2 1 0,0 3 0,0 6 0,0 8 0,0 6 0,1 4 0,1-4 0,0-1 0,0-3 0,-2-1 0,0 1 0,0-2 0,0-2 0,2-4 0,0-1 0,-2-2 0,0-2 0,0-2 0,1-1 0,1-2 0,0 0 0,0-1 0,-2 1 0,0 0 0,0 1 0,0 2 0,0 0 0,0 0 0,0-1 0,1-2 0,-1 0 0,0 0 0,0 0 0,1 0 0,1 0 0,0 0 0,0 0 0,-2 0 0,0 0 0,0 0 0,1-1 0,1 1 0,0 0 0,0-2 0,0 0 0,-2 0 0,0 4 0,0 4 0,1 2 0,-1 3 0,0 0 0,0 0 0,-2 1 0,2 2 0,-3 3 0,1 3 0,2-3 0,1-2 0,1-5 0,0-6 0,0-3 0,0-2 0,0-2 0,0 1 0,0 0 0,0 0 0,0 1 0,0-1 0,0 1 0,0 1 0,0-3 0,0 1 0,0-4 0,0-1 0,0-2 0,0-2 0,0 3 0,0-3 0,0 5 0,0-2 0,0 4 0,0 0 0,0 1 0,0-1 0,-2-3 0,-3-41 0,3 13 0,-4-31 0,6 25 0,0 0 0,0-1 0,0 2 0,0 3 0,0 3 0,0 3 0,0 0 0,0 1 0,0-1 0,0-1 0,0-2 0,0 1 0,0-1 0,0 0 0,0-3 0,0-5 0,0-4 0,0-3 0,0 0 0,0 4 0,0 3 0,0 3 0,0 0 0,0-1 0,0-1 0,0-1 0,0-2 0,0-1 0,0 0 0,0 3 0,0 4 0,0 0 0,-1-2 0,-2-5 0,1-3 0,0 0 0,0 3 0,0 3 0,0 1 0,1-3 0,1-1 0,-1 0 0,-1 1 0,-1-1 0,1-4 0,0-3 0,0-1 0,-1 6 0,0 6 0,1 4 0,0 2 0,2-3 0,0-3 0,0-4 0,0-4 0,0-8 0,0-2 0,0-2 0,0 6 0,0 10 0,0 11 0,0 12 0,0 30 0,1-4 0,1 21 0,0-17 0,0 0 0,-2 1 0,0-3 0,1-1 0,1-2 0,0-3 0,0-2 0,-2-2 0,0 0 0,0-3 0,0 1 0,0-2 0,0 0 0,0 2 0,0-1 0,0 2 0,0 0 0,0 2 0,0 2 0,0 2 0,1 0 0,1-1 0,0 0 0,1 1 0,-1-1 0,2 1 0,0 1 0,0 2 0,1 2 0,0 0 0,1 0 0,-1-2 0,-2 1 0,1 0 0,-2-1 0,2-1 0,0-3 0,-2-2 0,-1-1 0,0-2 0,0 1 0,1-1 0,0 0 0,-1-1 0,-1-3 0,0 0 0,0 0 0,2 0 0,0 0 0,0 2 0,-1 0 0,-1 2 0,0 0 0,1-3 0,1 0 0,-1-3 0,1 0 0,-2 1 0,0 0 0,0 1 0,0 1 0,0 1 0,0 2 0,0 1 0,0-1 0,0 1 0,0-2 0,0-1 0,0 1 0,0 0 0,0 0 0,0 0 0,0-2 0,0-1 0,0 0 0,0 0 0,0 0 0,0-1 0,0 0 0,0 3 0,0-3 0,0 2 0,0-1 0,0-2 0,0 2 0,0 1 0,-1-4 0,-1 5 0,-2-5 0,1 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4T14:54:18.919"/>
    </inkml:context>
    <inkml:brush xml:id="br0">
      <inkml:brushProperty name="width" value="0.35" units="cm"/>
      <inkml:brushProperty name="height" value="0.35" units="cm"/>
      <inkml:brushProperty name="color" value="#FFFFFF"/>
    </inkml:brush>
  </inkml:definitions>
  <inkml:trace contextRef="#ctx0" brushRef="#br0">116 701 24575,'0'-34'0,"0"-3"0,0-1 0,0-6 0,0 2 0,0 1 0,0 7 0,0 5 0,0 4 0,0 2 0,0 0 0,0 2 0,0 3 0,0 2 0,0 0 0,0 0 0,0 1 0,0 2 0,0 4 0,0 0 0,0 0 0,0 0 0,0-2 0,0 0 0,0-2 0,0-1 0,0-2 0,0 1 0,0 2 0,0 2 0,0 3 0,0-3 0,0 36 0,0-8 0,0 34 0,0-18 0,0-2 0,0-4 0,0 2 0,0 3 0,0 3 0,0 7 0,0 6 0,0 6 0,0-1 0,0-2 0,0-7 0,0-7 0,0-6 0,0-7 0,0-3 0,0-2 0,0 1 0,0 6 0,0 2 0,0 2 0,0-3 0,0-2 0,-1-5 0,-1-3 0,0-3 0,-1-4 0,-9-46 0,7 10 0,-5-35 0,8 27 0,2 6 0,0 5 0,0 3 0,0 3 0,0-1 0,0-1 0,-1-3 0,-3-1 0,-2-4 0,-1-4 0,2-1 0,0-3 0,1 4 0,1 3 0,1 5 0,1 3 0,1 2 0,0-1 0,0-2 0,0-1 0,0 1 0,0-1 0,0 1 0,0-1 0,0 2 0,0 3 0,0 0 0,0 3 0,0-1 0,0 3 0,0-1 0,0 1 0,0-1 0,0-2 0,0-1 0,-1 0 0,-1 0 0,0 2 0,-1 2 0,1 0 0,-1 1 0,-2 3 0,-3 3 0,2 30 0,0-5 0,4 23 0,2-13 0,0-4 0,0 0 0,0 1 0,0 1 0,0 4 0,0 2 0,0 6 0,0 4 0,0 4 0,0-1 0,0-4 0,0-4 0,0-3 0,0-2 0,0-4 0,0-3 0,0-4 0,0-4 0,0-4 0,0-4 0,0-2 0,0 1 0,0 0 0,0-1 0,0 1 0,0 0 0,0 1 0,0-1 0,0-1 0,0-1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15:07:50.53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1,'62'0,"-8"0,-27 0,-2 0,-2 0,-2 0,-1 0,1 3,1 0,1 3,2-1,0-1,-3 0,-2 0,-1 0,0-1,-1 1,1-1,-1 0,-1-1,-1 1,-2 0,7-2,-3 1,5-1,-6 0,-1 1,-2 1,1 0,5-2,-4 1,5 0,-7 0,1 0,2 2,-2-3,1 2,2-2,-5 0,6 1,-5 0,1-1,3-1,-5 0,3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15:48:10.34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6,'87'0,"5"0,-37 0,2 0,5 0,0 0,1 0,1 0,4 0,-1 0,-4 0,-1 0,-5 0,-2 0,40 0,-14 0,-9 0,-4 0,-1 0,-5 0,-6 0,-3 0,-1 0,1 0,1 0,-2 0,0 0,3 0,4 0,-1 0,-3 0,-4 0,1 0,2 0,1 0,0 0,-5 0,-2 0,-3 0,6 0,2 0,2 0,0 0,-2 0,2 0,3 0,1 0,-4 0,-2 0,-4 0,1 0,1 0,-1 0,-3 0,-2 0,0 1,-3 1,0 0,-3 0,0 0,-3-2,-1 1,-1 1,-4 1,-2-2,-3-1,0 0,1 0,2 2,-1 0,1 0,1 0,1-2,0 0,-4 0,-2 0,-1 0,1 0,1 0,0 0,-5 0,-1 0,-3 0,1 0,4 0,3 0,3 0,1 0,-1 0,-1 0,-4 0,-3-1,-4 0,9-5,-1 2,11-4,-5 4,-6 1,-3 1,-7 1,-1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15:48:21.68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0,'54'0,"-2"0,-9 0,-1 0,1 0,-1 0,3 0,1 0,4 0,3 0,1 0,0 0,-2 0,-2 0,-2 0,-6 0,-4 0,-4 0,-2 0,0 0,0 0,-1 0,0 0,1 0,0 0,4 0,1 0,3 0,2 0,0 0,1 0,-2 0,1 0,-1 0,0 0,2 0,-1 0,0 0,-3 0,-4 0,-1 0,-1 0,-1 0,2 0,2 0,1 0,1 0,-1 0,-2 0,2 0,-2 2,0 2,-2 0,-3 0,-2 0,-1-2,1 1,1 1,-1-2,-4 1,-5-1,-5 0,6-1,6-1,13 0,10 2,-2 0,-12 0,-12 0,-12-2,2 0,11 0,16 0,14 0,7 0,-3 0,-7 2,-9 0,-5 0,-2-1,2 1,2 0,-1 0,1 0,-3-2,-1 0,-1 0,0 0,-1 0,0 0,-4 0,-1 0,-1 2,1 0,1 0,1-1,-1-1,1 1,-1 1,0 0,0 0,-1-1,-2-1,1 0,4 0,4 0,1 0,-2 0,-7 0,-9 0,-4 0,0 0,2 0,7 0,4 0,3 0,2 0,-1 0,-1 0,-1 0,1 0,3 0,0-1,-2-1,-3-1,-7-1,0 2,-1 0,1 0,2 0,-1 0,1 0,0 2,0 0,-2 0,-3 0,-2 0,0 0,5 0,1 0,2 0,-6 0,-2 0,-2 0,6 0,-5 0,4 0,-6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99ABE-9CF0-7445-AC0F-B7964CF65F6A}" type="datetimeFigureOut">
              <a:rPr lang="en-US" smtClean="0"/>
              <a:t>9/28/26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84A6EF-87D0-1940-8A1B-25E93F29F215}" type="slidenum">
              <a:rPr lang="en-US" smtClean="0"/>
              <a:t>‹#›</a:t>
            </a:fld>
            <a:endParaRPr lang="en-US"/>
          </a:p>
        </p:txBody>
      </p:sp>
    </p:spTree>
    <p:extLst>
      <p:ext uri="{BB962C8B-B14F-4D97-AF65-F5344CB8AC3E}">
        <p14:creationId xmlns:p14="http://schemas.microsoft.com/office/powerpoint/2010/main" val="1533566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84A6EF-87D0-1940-8A1B-25E93F29F215}" type="slidenum">
              <a:rPr lang="en-US" smtClean="0"/>
              <a:t>1</a:t>
            </a:fld>
            <a:endParaRPr lang="en-US"/>
          </a:p>
        </p:txBody>
      </p:sp>
    </p:spTree>
    <p:extLst>
      <p:ext uri="{BB962C8B-B14F-4D97-AF65-F5344CB8AC3E}">
        <p14:creationId xmlns:p14="http://schemas.microsoft.com/office/powerpoint/2010/main" val="1699320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B358F-DB6E-0833-6E6C-A98208D4D6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0BCE80-2040-A82B-40C0-A48C6A337F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946566-7D37-63E5-C2C2-30225AD37965}"/>
              </a:ext>
            </a:extLst>
          </p:cNvPr>
          <p:cNvSpPr>
            <a:spLocks noGrp="1"/>
          </p:cNvSpPr>
          <p:nvPr>
            <p:ph type="dt" sz="half" idx="10"/>
          </p:nvPr>
        </p:nvSpPr>
        <p:spPr/>
        <p:txBody>
          <a:bodyPr/>
          <a:lstStyle/>
          <a:p>
            <a:fld id="{43F62248-89AE-B549-AE8F-3DE896111218}" type="datetimeFigureOut">
              <a:rPr lang="en-US" smtClean="0"/>
              <a:t>9/28/26</a:t>
            </a:fld>
            <a:endParaRPr lang="en-US"/>
          </a:p>
        </p:txBody>
      </p:sp>
      <p:sp>
        <p:nvSpPr>
          <p:cNvPr id="5" name="Footer Placeholder 4">
            <a:extLst>
              <a:ext uri="{FF2B5EF4-FFF2-40B4-BE49-F238E27FC236}">
                <a16:creationId xmlns:a16="http://schemas.microsoft.com/office/drawing/2014/main" id="{7F8C1518-B370-A559-2B9E-E707F65E98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ED2BF3-1E9B-0779-9FCA-FB55CFF8A390}"/>
              </a:ext>
            </a:extLst>
          </p:cNvPr>
          <p:cNvSpPr>
            <a:spLocks noGrp="1"/>
          </p:cNvSpPr>
          <p:nvPr>
            <p:ph type="sldNum" sz="quarter" idx="12"/>
          </p:nvPr>
        </p:nvSpPr>
        <p:spPr/>
        <p:txBody>
          <a:bodyPr/>
          <a:lstStyle/>
          <a:p>
            <a:fld id="{3DA9E300-ACA0-ED4E-9E3D-370222672C9E}" type="slidenum">
              <a:rPr lang="en-US" smtClean="0"/>
              <a:t>‹#›</a:t>
            </a:fld>
            <a:endParaRPr lang="en-US"/>
          </a:p>
        </p:txBody>
      </p:sp>
    </p:spTree>
    <p:extLst>
      <p:ext uri="{BB962C8B-B14F-4D97-AF65-F5344CB8AC3E}">
        <p14:creationId xmlns:p14="http://schemas.microsoft.com/office/powerpoint/2010/main" val="416439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72FEC-F537-C105-1E6C-1006A4C804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2618AA-7275-7CEA-E232-59062F3ABD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453EFB-7EDE-B9B4-27C4-7033162D5366}"/>
              </a:ext>
            </a:extLst>
          </p:cNvPr>
          <p:cNvSpPr>
            <a:spLocks noGrp="1"/>
          </p:cNvSpPr>
          <p:nvPr>
            <p:ph type="dt" sz="half" idx="10"/>
          </p:nvPr>
        </p:nvSpPr>
        <p:spPr/>
        <p:txBody>
          <a:bodyPr/>
          <a:lstStyle/>
          <a:p>
            <a:fld id="{43F62248-89AE-B549-AE8F-3DE896111218}" type="datetimeFigureOut">
              <a:rPr lang="en-US" smtClean="0"/>
              <a:t>9/28/26</a:t>
            </a:fld>
            <a:endParaRPr lang="en-US"/>
          </a:p>
        </p:txBody>
      </p:sp>
      <p:sp>
        <p:nvSpPr>
          <p:cNvPr id="5" name="Footer Placeholder 4">
            <a:extLst>
              <a:ext uri="{FF2B5EF4-FFF2-40B4-BE49-F238E27FC236}">
                <a16:creationId xmlns:a16="http://schemas.microsoft.com/office/drawing/2014/main" id="{34911C88-2A47-DC75-3920-646FF9C34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04103B-A963-A142-EC97-1CEE62F6AAC4}"/>
              </a:ext>
            </a:extLst>
          </p:cNvPr>
          <p:cNvSpPr>
            <a:spLocks noGrp="1"/>
          </p:cNvSpPr>
          <p:nvPr>
            <p:ph type="sldNum" sz="quarter" idx="12"/>
          </p:nvPr>
        </p:nvSpPr>
        <p:spPr/>
        <p:txBody>
          <a:bodyPr/>
          <a:lstStyle/>
          <a:p>
            <a:fld id="{3DA9E300-ACA0-ED4E-9E3D-370222672C9E}" type="slidenum">
              <a:rPr lang="en-US" smtClean="0"/>
              <a:t>‹#›</a:t>
            </a:fld>
            <a:endParaRPr lang="en-US"/>
          </a:p>
        </p:txBody>
      </p:sp>
    </p:spTree>
    <p:extLst>
      <p:ext uri="{BB962C8B-B14F-4D97-AF65-F5344CB8AC3E}">
        <p14:creationId xmlns:p14="http://schemas.microsoft.com/office/powerpoint/2010/main" val="3250623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62FC5-EF67-1765-E164-F11CD800A2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257965-3E9A-1AA6-10B7-F0692D94B1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AE050C-70D0-9FCE-5748-75A321B0C226}"/>
              </a:ext>
            </a:extLst>
          </p:cNvPr>
          <p:cNvSpPr>
            <a:spLocks noGrp="1"/>
          </p:cNvSpPr>
          <p:nvPr>
            <p:ph type="dt" sz="half" idx="10"/>
          </p:nvPr>
        </p:nvSpPr>
        <p:spPr/>
        <p:txBody>
          <a:bodyPr/>
          <a:lstStyle/>
          <a:p>
            <a:fld id="{43F62248-89AE-B549-AE8F-3DE896111218}" type="datetimeFigureOut">
              <a:rPr lang="en-US" smtClean="0"/>
              <a:t>9/28/26</a:t>
            </a:fld>
            <a:endParaRPr lang="en-US"/>
          </a:p>
        </p:txBody>
      </p:sp>
      <p:sp>
        <p:nvSpPr>
          <p:cNvPr id="5" name="Footer Placeholder 4">
            <a:extLst>
              <a:ext uri="{FF2B5EF4-FFF2-40B4-BE49-F238E27FC236}">
                <a16:creationId xmlns:a16="http://schemas.microsoft.com/office/drawing/2014/main" id="{6DAD020C-556F-9BF6-6CEC-DF99A4E47F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BE6289-4F18-68F8-BA79-34A9D90638B8}"/>
              </a:ext>
            </a:extLst>
          </p:cNvPr>
          <p:cNvSpPr>
            <a:spLocks noGrp="1"/>
          </p:cNvSpPr>
          <p:nvPr>
            <p:ph type="sldNum" sz="quarter" idx="12"/>
          </p:nvPr>
        </p:nvSpPr>
        <p:spPr/>
        <p:txBody>
          <a:bodyPr/>
          <a:lstStyle/>
          <a:p>
            <a:fld id="{3DA9E300-ACA0-ED4E-9E3D-370222672C9E}" type="slidenum">
              <a:rPr lang="en-US" smtClean="0"/>
              <a:t>‹#›</a:t>
            </a:fld>
            <a:endParaRPr lang="en-US"/>
          </a:p>
        </p:txBody>
      </p:sp>
    </p:spTree>
    <p:extLst>
      <p:ext uri="{BB962C8B-B14F-4D97-AF65-F5344CB8AC3E}">
        <p14:creationId xmlns:p14="http://schemas.microsoft.com/office/powerpoint/2010/main" val="2273698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6C5F2-4961-A023-0D92-D0CEFF799A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CC58C0-56FC-2039-108C-0DB606C8A5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CBF828-4353-5D26-E70D-D82F4515F1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BCD677-458F-3DC8-923C-E85EEBB945F9}"/>
              </a:ext>
            </a:extLst>
          </p:cNvPr>
          <p:cNvSpPr>
            <a:spLocks noGrp="1"/>
          </p:cNvSpPr>
          <p:nvPr>
            <p:ph type="dt" sz="half" idx="10"/>
          </p:nvPr>
        </p:nvSpPr>
        <p:spPr/>
        <p:txBody>
          <a:bodyPr/>
          <a:lstStyle/>
          <a:p>
            <a:fld id="{43F62248-89AE-B549-AE8F-3DE896111218}" type="datetimeFigureOut">
              <a:rPr lang="en-US" smtClean="0"/>
              <a:t>9/28/26</a:t>
            </a:fld>
            <a:endParaRPr lang="en-US"/>
          </a:p>
        </p:txBody>
      </p:sp>
      <p:sp>
        <p:nvSpPr>
          <p:cNvPr id="6" name="Footer Placeholder 5">
            <a:extLst>
              <a:ext uri="{FF2B5EF4-FFF2-40B4-BE49-F238E27FC236}">
                <a16:creationId xmlns:a16="http://schemas.microsoft.com/office/drawing/2014/main" id="{ECEF88EE-4582-7602-CFDC-89E8D35971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723EB1-6224-627A-0A26-D8E9C6C47C93}"/>
              </a:ext>
            </a:extLst>
          </p:cNvPr>
          <p:cNvSpPr>
            <a:spLocks noGrp="1"/>
          </p:cNvSpPr>
          <p:nvPr>
            <p:ph type="sldNum" sz="quarter" idx="12"/>
          </p:nvPr>
        </p:nvSpPr>
        <p:spPr/>
        <p:txBody>
          <a:bodyPr/>
          <a:lstStyle/>
          <a:p>
            <a:fld id="{3DA9E300-ACA0-ED4E-9E3D-370222672C9E}" type="slidenum">
              <a:rPr lang="en-US" smtClean="0"/>
              <a:t>‹#›</a:t>
            </a:fld>
            <a:endParaRPr lang="en-US"/>
          </a:p>
        </p:txBody>
      </p:sp>
    </p:spTree>
    <p:extLst>
      <p:ext uri="{BB962C8B-B14F-4D97-AF65-F5344CB8AC3E}">
        <p14:creationId xmlns:p14="http://schemas.microsoft.com/office/powerpoint/2010/main" val="93671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5067-069E-A688-E64A-B1941DA796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6FDE24-A407-7634-C114-1D8D69F303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FFADB-3C38-8797-A70B-3C948787A0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D39FE2-E745-B376-55C6-E8A3A4B2EF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91B017-5CF5-5C36-FB21-5DB70EEF7C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01342-84E5-4B06-4002-7A855F8E7FD9}"/>
              </a:ext>
            </a:extLst>
          </p:cNvPr>
          <p:cNvSpPr>
            <a:spLocks noGrp="1"/>
          </p:cNvSpPr>
          <p:nvPr>
            <p:ph type="dt" sz="half" idx="10"/>
          </p:nvPr>
        </p:nvSpPr>
        <p:spPr/>
        <p:txBody>
          <a:bodyPr/>
          <a:lstStyle/>
          <a:p>
            <a:fld id="{43F62248-89AE-B549-AE8F-3DE896111218}" type="datetimeFigureOut">
              <a:rPr lang="en-US" smtClean="0"/>
              <a:t>9/28/26</a:t>
            </a:fld>
            <a:endParaRPr lang="en-US"/>
          </a:p>
        </p:txBody>
      </p:sp>
      <p:sp>
        <p:nvSpPr>
          <p:cNvPr id="8" name="Footer Placeholder 7">
            <a:extLst>
              <a:ext uri="{FF2B5EF4-FFF2-40B4-BE49-F238E27FC236}">
                <a16:creationId xmlns:a16="http://schemas.microsoft.com/office/drawing/2014/main" id="{CD012EEA-ECD6-775B-F7D6-C0800D54B9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293ED6-7EB2-3D6D-8101-F2DFAEE35C90}"/>
              </a:ext>
            </a:extLst>
          </p:cNvPr>
          <p:cNvSpPr>
            <a:spLocks noGrp="1"/>
          </p:cNvSpPr>
          <p:nvPr>
            <p:ph type="sldNum" sz="quarter" idx="12"/>
          </p:nvPr>
        </p:nvSpPr>
        <p:spPr/>
        <p:txBody>
          <a:bodyPr/>
          <a:lstStyle/>
          <a:p>
            <a:fld id="{3DA9E300-ACA0-ED4E-9E3D-370222672C9E}" type="slidenum">
              <a:rPr lang="en-US" smtClean="0"/>
              <a:t>‹#›</a:t>
            </a:fld>
            <a:endParaRPr lang="en-US"/>
          </a:p>
        </p:txBody>
      </p:sp>
    </p:spTree>
    <p:extLst>
      <p:ext uri="{BB962C8B-B14F-4D97-AF65-F5344CB8AC3E}">
        <p14:creationId xmlns:p14="http://schemas.microsoft.com/office/powerpoint/2010/main" val="1171177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D0FC1-7C40-D397-06B0-344027C849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FFEE37-458D-AB7F-9406-D932C5FAFC97}"/>
              </a:ext>
            </a:extLst>
          </p:cNvPr>
          <p:cNvSpPr>
            <a:spLocks noGrp="1"/>
          </p:cNvSpPr>
          <p:nvPr>
            <p:ph type="dt" sz="half" idx="10"/>
          </p:nvPr>
        </p:nvSpPr>
        <p:spPr/>
        <p:txBody>
          <a:bodyPr/>
          <a:lstStyle/>
          <a:p>
            <a:fld id="{43F62248-89AE-B549-AE8F-3DE896111218}" type="datetimeFigureOut">
              <a:rPr lang="en-US" smtClean="0"/>
              <a:t>9/28/26</a:t>
            </a:fld>
            <a:endParaRPr lang="en-US"/>
          </a:p>
        </p:txBody>
      </p:sp>
      <p:sp>
        <p:nvSpPr>
          <p:cNvPr id="4" name="Footer Placeholder 3">
            <a:extLst>
              <a:ext uri="{FF2B5EF4-FFF2-40B4-BE49-F238E27FC236}">
                <a16:creationId xmlns:a16="http://schemas.microsoft.com/office/drawing/2014/main" id="{5A31B715-3B5C-E2F3-D381-2187284EE8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FBCE04-108F-54CA-D649-6FDFB9D8F6EA}"/>
              </a:ext>
            </a:extLst>
          </p:cNvPr>
          <p:cNvSpPr>
            <a:spLocks noGrp="1"/>
          </p:cNvSpPr>
          <p:nvPr>
            <p:ph type="sldNum" sz="quarter" idx="12"/>
          </p:nvPr>
        </p:nvSpPr>
        <p:spPr/>
        <p:txBody>
          <a:bodyPr/>
          <a:lstStyle/>
          <a:p>
            <a:fld id="{3DA9E300-ACA0-ED4E-9E3D-370222672C9E}" type="slidenum">
              <a:rPr lang="en-US" smtClean="0"/>
              <a:t>‹#›</a:t>
            </a:fld>
            <a:endParaRPr lang="en-US"/>
          </a:p>
        </p:txBody>
      </p:sp>
    </p:spTree>
    <p:extLst>
      <p:ext uri="{BB962C8B-B14F-4D97-AF65-F5344CB8AC3E}">
        <p14:creationId xmlns:p14="http://schemas.microsoft.com/office/powerpoint/2010/main" val="1945438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2A37A3-347C-F96E-6F60-42DD48C8671A}"/>
              </a:ext>
            </a:extLst>
          </p:cNvPr>
          <p:cNvSpPr>
            <a:spLocks noGrp="1"/>
          </p:cNvSpPr>
          <p:nvPr>
            <p:ph type="dt" sz="half" idx="10"/>
          </p:nvPr>
        </p:nvSpPr>
        <p:spPr/>
        <p:txBody>
          <a:bodyPr/>
          <a:lstStyle/>
          <a:p>
            <a:fld id="{43F62248-89AE-B549-AE8F-3DE896111218}" type="datetimeFigureOut">
              <a:rPr lang="en-US" smtClean="0"/>
              <a:t>9/28/26</a:t>
            </a:fld>
            <a:endParaRPr lang="en-US"/>
          </a:p>
        </p:txBody>
      </p:sp>
      <p:sp>
        <p:nvSpPr>
          <p:cNvPr id="3" name="Footer Placeholder 2">
            <a:extLst>
              <a:ext uri="{FF2B5EF4-FFF2-40B4-BE49-F238E27FC236}">
                <a16:creationId xmlns:a16="http://schemas.microsoft.com/office/drawing/2014/main" id="{4E3E81F2-B403-4A2E-BDC2-AFF3453F2B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8EE24D-2EDF-3750-782F-33564555E8D9}"/>
              </a:ext>
            </a:extLst>
          </p:cNvPr>
          <p:cNvSpPr>
            <a:spLocks noGrp="1"/>
          </p:cNvSpPr>
          <p:nvPr>
            <p:ph type="sldNum" sz="quarter" idx="12"/>
          </p:nvPr>
        </p:nvSpPr>
        <p:spPr/>
        <p:txBody>
          <a:bodyPr/>
          <a:lstStyle/>
          <a:p>
            <a:fld id="{3DA9E300-ACA0-ED4E-9E3D-370222672C9E}" type="slidenum">
              <a:rPr lang="en-US" smtClean="0"/>
              <a:t>‹#›</a:t>
            </a:fld>
            <a:endParaRPr lang="en-US"/>
          </a:p>
        </p:txBody>
      </p:sp>
    </p:spTree>
    <p:extLst>
      <p:ext uri="{BB962C8B-B14F-4D97-AF65-F5344CB8AC3E}">
        <p14:creationId xmlns:p14="http://schemas.microsoft.com/office/powerpoint/2010/main" val="2071876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7DF22-9D92-43F9-7D49-D365403B9F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87923E-A652-D27D-51F8-6AA4A1CE24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80A434-5588-22D6-0828-EDFD6C4755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0722FE-DB3B-9518-9103-5A6A0E0FC30B}"/>
              </a:ext>
            </a:extLst>
          </p:cNvPr>
          <p:cNvSpPr>
            <a:spLocks noGrp="1"/>
          </p:cNvSpPr>
          <p:nvPr>
            <p:ph type="dt" sz="half" idx="10"/>
          </p:nvPr>
        </p:nvSpPr>
        <p:spPr/>
        <p:txBody>
          <a:bodyPr/>
          <a:lstStyle/>
          <a:p>
            <a:fld id="{43F62248-89AE-B549-AE8F-3DE896111218}" type="datetimeFigureOut">
              <a:rPr lang="en-US" smtClean="0"/>
              <a:t>9/28/26</a:t>
            </a:fld>
            <a:endParaRPr lang="en-US"/>
          </a:p>
        </p:txBody>
      </p:sp>
      <p:sp>
        <p:nvSpPr>
          <p:cNvPr id="6" name="Footer Placeholder 5">
            <a:extLst>
              <a:ext uri="{FF2B5EF4-FFF2-40B4-BE49-F238E27FC236}">
                <a16:creationId xmlns:a16="http://schemas.microsoft.com/office/drawing/2014/main" id="{7B7BF42A-C137-74F3-7CD3-5E4EE1F079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7B4AF2-07CD-8B01-1624-79188DE6E69E}"/>
              </a:ext>
            </a:extLst>
          </p:cNvPr>
          <p:cNvSpPr>
            <a:spLocks noGrp="1"/>
          </p:cNvSpPr>
          <p:nvPr>
            <p:ph type="sldNum" sz="quarter" idx="12"/>
          </p:nvPr>
        </p:nvSpPr>
        <p:spPr/>
        <p:txBody>
          <a:bodyPr/>
          <a:lstStyle/>
          <a:p>
            <a:fld id="{3DA9E300-ACA0-ED4E-9E3D-370222672C9E}" type="slidenum">
              <a:rPr lang="en-US" smtClean="0"/>
              <a:t>‹#›</a:t>
            </a:fld>
            <a:endParaRPr lang="en-US"/>
          </a:p>
        </p:txBody>
      </p:sp>
    </p:spTree>
    <p:extLst>
      <p:ext uri="{BB962C8B-B14F-4D97-AF65-F5344CB8AC3E}">
        <p14:creationId xmlns:p14="http://schemas.microsoft.com/office/powerpoint/2010/main" val="1256316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C9F89-22A7-28A0-EF03-CA8EF756BA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DC33E3-C292-969C-B41B-C844ACEF47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A6C5CF-7A80-182D-7FD0-23FBE676CD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0E1352-4564-067B-2343-0FC63BE7F80E}"/>
              </a:ext>
            </a:extLst>
          </p:cNvPr>
          <p:cNvSpPr>
            <a:spLocks noGrp="1"/>
          </p:cNvSpPr>
          <p:nvPr>
            <p:ph type="dt" sz="half" idx="10"/>
          </p:nvPr>
        </p:nvSpPr>
        <p:spPr/>
        <p:txBody>
          <a:bodyPr/>
          <a:lstStyle/>
          <a:p>
            <a:fld id="{43F62248-89AE-B549-AE8F-3DE896111218}" type="datetimeFigureOut">
              <a:rPr lang="en-US" smtClean="0"/>
              <a:t>9/28/26</a:t>
            </a:fld>
            <a:endParaRPr lang="en-US"/>
          </a:p>
        </p:txBody>
      </p:sp>
      <p:sp>
        <p:nvSpPr>
          <p:cNvPr id="6" name="Footer Placeholder 5">
            <a:extLst>
              <a:ext uri="{FF2B5EF4-FFF2-40B4-BE49-F238E27FC236}">
                <a16:creationId xmlns:a16="http://schemas.microsoft.com/office/drawing/2014/main" id="{082C9C52-9743-AE5A-C9C0-E728A81A9E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2062C6-35C7-E002-0866-5C85D04A4C3A}"/>
              </a:ext>
            </a:extLst>
          </p:cNvPr>
          <p:cNvSpPr>
            <a:spLocks noGrp="1"/>
          </p:cNvSpPr>
          <p:nvPr>
            <p:ph type="sldNum" sz="quarter" idx="12"/>
          </p:nvPr>
        </p:nvSpPr>
        <p:spPr/>
        <p:txBody>
          <a:bodyPr/>
          <a:lstStyle/>
          <a:p>
            <a:fld id="{3DA9E300-ACA0-ED4E-9E3D-370222672C9E}" type="slidenum">
              <a:rPr lang="en-US" smtClean="0"/>
              <a:t>‹#›</a:t>
            </a:fld>
            <a:endParaRPr lang="en-US"/>
          </a:p>
        </p:txBody>
      </p:sp>
    </p:spTree>
    <p:extLst>
      <p:ext uri="{BB962C8B-B14F-4D97-AF65-F5344CB8AC3E}">
        <p14:creationId xmlns:p14="http://schemas.microsoft.com/office/powerpoint/2010/main" val="2252056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160C-1E2F-2DEC-0F87-80360840CA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AF5EE4-725C-FBDB-7642-A93B0E7A74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471550-31AF-5423-F61C-31DEBFC412FE}"/>
              </a:ext>
            </a:extLst>
          </p:cNvPr>
          <p:cNvSpPr>
            <a:spLocks noGrp="1"/>
          </p:cNvSpPr>
          <p:nvPr>
            <p:ph type="dt" sz="half" idx="10"/>
          </p:nvPr>
        </p:nvSpPr>
        <p:spPr/>
        <p:txBody>
          <a:bodyPr/>
          <a:lstStyle/>
          <a:p>
            <a:fld id="{43F62248-89AE-B549-AE8F-3DE896111218}" type="datetimeFigureOut">
              <a:rPr lang="en-US" smtClean="0"/>
              <a:t>9/28/26</a:t>
            </a:fld>
            <a:endParaRPr lang="en-US"/>
          </a:p>
        </p:txBody>
      </p:sp>
      <p:sp>
        <p:nvSpPr>
          <p:cNvPr id="5" name="Footer Placeholder 4">
            <a:extLst>
              <a:ext uri="{FF2B5EF4-FFF2-40B4-BE49-F238E27FC236}">
                <a16:creationId xmlns:a16="http://schemas.microsoft.com/office/drawing/2014/main" id="{5D090AA8-7D87-8D8D-47B8-7BD2954F7F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EF150A-635F-5B34-E238-0A2CF1D453AD}"/>
              </a:ext>
            </a:extLst>
          </p:cNvPr>
          <p:cNvSpPr>
            <a:spLocks noGrp="1"/>
          </p:cNvSpPr>
          <p:nvPr>
            <p:ph type="sldNum" sz="quarter" idx="12"/>
          </p:nvPr>
        </p:nvSpPr>
        <p:spPr/>
        <p:txBody>
          <a:bodyPr/>
          <a:lstStyle/>
          <a:p>
            <a:fld id="{3DA9E300-ACA0-ED4E-9E3D-370222672C9E}" type="slidenum">
              <a:rPr lang="en-US" smtClean="0"/>
              <a:t>‹#›</a:t>
            </a:fld>
            <a:endParaRPr lang="en-US"/>
          </a:p>
        </p:txBody>
      </p:sp>
    </p:spTree>
    <p:extLst>
      <p:ext uri="{BB962C8B-B14F-4D97-AF65-F5344CB8AC3E}">
        <p14:creationId xmlns:p14="http://schemas.microsoft.com/office/powerpoint/2010/main" val="2524466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A1EC5C-7180-8419-8CDB-4FE1668247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E0B644-90D2-4049-5880-EDC08D0171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98FA53-BB3C-DE10-1136-FCF7FD9E6BF6}"/>
              </a:ext>
            </a:extLst>
          </p:cNvPr>
          <p:cNvSpPr>
            <a:spLocks noGrp="1"/>
          </p:cNvSpPr>
          <p:nvPr>
            <p:ph type="dt" sz="half" idx="10"/>
          </p:nvPr>
        </p:nvSpPr>
        <p:spPr/>
        <p:txBody>
          <a:bodyPr/>
          <a:lstStyle/>
          <a:p>
            <a:fld id="{43F62248-89AE-B549-AE8F-3DE896111218}" type="datetimeFigureOut">
              <a:rPr lang="en-US" smtClean="0"/>
              <a:t>9/28/26</a:t>
            </a:fld>
            <a:endParaRPr lang="en-US"/>
          </a:p>
        </p:txBody>
      </p:sp>
      <p:sp>
        <p:nvSpPr>
          <p:cNvPr id="5" name="Footer Placeholder 4">
            <a:extLst>
              <a:ext uri="{FF2B5EF4-FFF2-40B4-BE49-F238E27FC236}">
                <a16:creationId xmlns:a16="http://schemas.microsoft.com/office/drawing/2014/main" id="{45DFF434-69AE-DD2F-9E35-D33BC0608B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977339-8148-C2F7-4B0B-7FB2591FBC9B}"/>
              </a:ext>
            </a:extLst>
          </p:cNvPr>
          <p:cNvSpPr>
            <a:spLocks noGrp="1"/>
          </p:cNvSpPr>
          <p:nvPr>
            <p:ph type="sldNum" sz="quarter" idx="12"/>
          </p:nvPr>
        </p:nvSpPr>
        <p:spPr/>
        <p:txBody>
          <a:bodyPr/>
          <a:lstStyle/>
          <a:p>
            <a:fld id="{3DA9E300-ACA0-ED4E-9E3D-370222672C9E}" type="slidenum">
              <a:rPr lang="en-US" smtClean="0"/>
              <a:t>‹#›</a:t>
            </a:fld>
            <a:endParaRPr lang="en-US"/>
          </a:p>
        </p:txBody>
      </p:sp>
    </p:spTree>
    <p:extLst>
      <p:ext uri="{BB962C8B-B14F-4D97-AF65-F5344CB8AC3E}">
        <p14:creationId xmlns:p14="http://schemas.microsoft.com/office/powerpoint/2010/main" val="4071256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A4E043-A9EF-A21D-49AF-6566BAB16C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88D6E1-B0C2-2FC5-0B12-AB555E4884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9412DE-6171-C179-6C4A-665D786548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F62248-89AE-B549-AE8F-3DE896111218}" type="datetimeFigureOut">
              <a:rPr lang="en-US" smtClean="0"/>
              <a:t>9/28/26</a:t>
            </a:fld>
            <a:endParaRPr lang="en-US"/>
          </a:p>
        </p:txBody>
      </p:sp>
      <p:sp>
        <p:nvSpPr>
          <p:cNvPr id="5" name="Footer Placeholder 4">
            <a:extLst>
              <a:ext uri="{FF2B5EF4-FFF2-40B4-BE49-F238E27FC236}">
                <a16:creationId xmlns:a16="http://schemas.microsoft.com/office/drawing/2014/main" id="{F82C0F27-A64C-4B71-B767-79540068E8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86DAE80-3809-6948-A29B-77642410B9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A9E300-ACA0-ED4E-9E3D-370222672C9E}" type="slidenum">
              <a:rPr lang="en-US" smtClean="0"/>
              <a:t>‹#›</a:t>
            </a:fld>
            <a:endParaRPr lang="en-US"/>
          </a:p>
        </p:txBody>
      </p:sp>
    </p:spTree>
    <p:extLst>
      <p:ext uri="{BB962C8B-B14F-4D97-AF65-F5344CB8AC3E}">
        <p14:creationId xmlns:p14="http://schemas.microsoft.com/office/powerpoint/2010/main" val="802953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customXml" Target="../ink/ink3.xml"/><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customXml" Target="../ink/ink2.xml"/><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customXml" Target="../ink/ink1.xml"/><Relationship Id="rId1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3.png"/><Relationship Id="rId3" Type="http://schemas.openxmlformats.org/officeDocument/2006/relationships/image" Target="../media/image27.png"/><Relationship Id="rId7" Type="http://schemas.openxmlformats.org/officeDocument/2006/relationships/customXml" Target="../ink/ink6.xml"/><Relationship Id="rId12" Type="http://schemas.openxmlformats.org/officeDocument/2006/relationships/image" Target="../media/image32.png"/><Relationship Id="rId17" Type="http://schemas.openxmlformats.org/officeDocument/2006/relationships/image" Target="../media/image36.png"/><Relationship Id="rId2" Type="http://schemas.openxmlformats.org/officeDocument/2006/relationships/image" Target="../media/image1.png"/><Relationship Id="rId16"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customXml" Target="../ink/ink8.xml"/><Relationship Id="rId5" Type="http://schemas.openxmlformats.org/officeDocument/2006/relationships/customXml" Target="../ink/ink5.xml"/><Relationship Id="rId15" Type="http://schemas.openxmlformats.org/officeDocument/2006/relationships/customXml" Target="../ink/ink9.xml"/><Relationship Id="rId10" Type="http://schemas.openxmlformats.org/officeDocument/2006/relationships/image" Target="../media/image31.png"/><Relationship Id="rId4" Type="http://schemas.openxmlformats.org/officeDocument/2006/relationships/image" Target="../media/image28.png"/><Relationship Id="rId9" Type="http://schemas.openxmlformats.org/officeDocument/2006/relationships/customXml" Target="../ink/ink7.xml"/><Relationship Id="rId1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5.png"/><Relationship Id="rId3" Type="http://schemas.openxmlformats.org/officeDocument/2006/relationships/customXml" Target="../ink/ink10.xml"/><Relationship Id="rId7" Type="http://schemas.openxmlformats.org/officeDocument/2006/relationships/image" Target="../media/image41.png"/><Relationship Id="rId12" Type="http://schemas.openxmlformats.org/officeDocument/2006/relationships/customXml" Target="../ink/ink12.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4.png"/><Relationship Id="rId5" Type="http://schemas.openxmlformats.org/officeDocument/2006/relationships/image" Target="../media/image39.png"/><Relationship Id="rId10" Type="http://schemas.openxmlformats.org/officeDocument/2006/relationships/customXml" Target="../ink/ink11.xml"/><Relationship Id="rId4" Type="http://schemas.openxmlformats.org/officeDocument/2006/relationships/image" Target="../media/image38.png"/><Relationship Id="rId9" Type="http://schemas.openxmlformats.org/officeDocument/2006/relationships/image" Target="../media/image43.png"/></Relationships>
</file>

<file path=ppt/slides/_rels/slide1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6CCF3CC-1222-82F7-E0D8-0C7DAA475BF2}"/>
              </a:ext>
            </a:extLst>
          </p:cNvPr>
          <p:cNvPicPr>
            <a:picLocks noChangeAspect="1"/>
          </p:cNvPicPr>
          <p:nvPr/>
        </p:nvPicPr>
        <p:blipFill>
          <a:blip r:embed="rId3"/>
          <a:stretch>
            <a:fillRect/>
          </a:stretch>
        </p:blipFill>
        <p:spPr>
          <a:xfrm>
            <a:off x="993828" y="84757"/>
            <a:ext cx="10351905" cy="6773243"/>
          </a:xfrm>
          <a:prstGeom prst="rect">
            <a:avLst/>
          </a:prstGeom>
        </p:spPr>
      </p:pic>
      <p:sp>
        <p:nvSpPr>
          <p:cNvPr id="8" name="Rounded Rectangle 7">
            <a:extLst>
              <a:ext uri="{FF2B5EF4-FFF2-40B4-BE49-F238E27FC236}">
                <a16:creationId xmlns:a16="http://schemas.microsoft.com/office/drawing/2014/main" id="{1890671C-CC56-B13C-053E-2EEA21F1C233}"/>
              </a:ext>
            </a:extLst>
          </p:cNvPr>
          <p:cNvSpPr/>
          <p:nvPr/>
        </p:nvSpPr>
        <p:spPr>
          <a:xfrm>
            <a:off x="1188718" y="1600200"/>
            <a:ext cx="10204344" cy="150668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SCIENTIFIC AND RESEARCH CENTER OF INTERDISCIPLINARY SCHOOLS</a:t>
            </a:r>
          </a:p>
        </p:txBody>
      </p:sp>
      <p:sp>
        <p:nvSpPr>
          <p:cNvPr id="9" name="TextBox 8">
            <a:extLst>
              <a:ext uri="{FF2B5EF4-FFF2-40B4-BE49-F238E27FC236}">
                <a16:creationId xmlns:a16="http://schemas.microsoft.com/office/drawing/2014/main" id="{7AF06D9D-2991-0C67-A2EA-06B1447CC666}"/>
              </a:ext>
            </a:extLst>
          </p:cNvPr>
          <p:cNvSpPr txBox="1"/>
          <p:nvPr/>
        </p:nvSpPr>
        <p:spPr>
          <a:xfrm>
            <a:off x="1350818" y="3220548"/>
            <a:ext cx="10089573" cy="1569660"/>
          </a:xfrm>
          <a:prstGeom prst="rect">
            <a:avLst/>
          </a:prstGeom>
          <a:noFill/>
        </p:spPr>
        <p:txBody>
          <a:bodyPr wrap="square" rtlCol="0">
            <a:spAutoFit/>
          </a:bodyPr>
          <a:lstStyle/>
          <a:p>
            <a:pPr algn="ctr"/>
            <a:r>
              <a:rPr lang="en-US" sz="2400" dirty="0"/>
              <a:t>Title of the lesson : fMRI image processing , CONN toolbox</a:t>
            </a:r>
          </a:p>
          <a:p>
            <a:pPr algn="ctr"/>
            <a:r>
              <a:rPr lang="en-US" sz="2400" dirty="0"/>
              <a:t>Subject Title : ROI to ROI connectivity and graph measures</a:t>
            </a:r>
          </a:p>
          <a:p>
            <a:pPr algn="ctr"/>
            <a:r>
              <a:rPr lang="en-US" sz="2400" dirty="0"/>
              <a:t>Teacher’s Name: Zeynab Haghani</a:t>
            </a:r>
          </a:p>
          <a:p>
            <a:pPr algn="ctr"/>
            <a:r>
              <a:rPr lang="en-US" sz="2400" dirty="0"/>
              <a:t>Year and Season : Summer 2026</a:t>
            </a:r>
          </a:p>
        </p:txBody>
      </p:sp>
      <p:sp>
        <p:nvSpPr>
          <p:cNvPr id="10" name="Delay 9">
            <a:extLst>
              <a:ext uri="{FF2B5EF4-FFF2-40B4-BE49-F238E27FC236}">
                <a16:creationId xmlns:a16="http://schemas.microsoft.com/office/drawing/2014/main" id="{621E4AE8-7DBB-F82F-9EA8-14DAD6F50EAF}"/>
              </a:ext>
            </a:extLst>
          </p:cNvPr>
          <p:cNvSpPr/>
          <p:nvPr/>
        </p:nvSpPr>
        <p:spPr>
          <a:xfrm>
            <a:off x="-3127" y="365900"/>
            <a:ext cx="849394" cy="636504"/>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11" name="Picture 10">
            <a:extLst>
              <a:ext uri="{FF2B5EF4-FFF2-40B4-BE49-F238E27FC236}">
                <a16:creationId xmlns:a16="http://schemas.microsoft.com/office/drawing/2014/main" id="{95BE7487-55B3-B197-DCA5-428207E4B740}"/>
              </a:ext>
            </a:extLst>
          </p:cNvPr>
          <p:cNvPicPr>
            <a:picLocks noChangeAspect="1"/>
          </p:cNvPicPr>
          <p:nvPr/>
        </p:nvPicPr>
        <p:blipFill>
          <a:blip r:embed="rId4"/>
          <a:stretch>
            <a:fillRect/>
          </a:stretch>
        </p:blipFill>
        <p:spPr>
          <a:xfrm>
            <a:off x="61021" y="4603607"/>
            <a:ext cx="377925" cy="373202"/>
          </a:xfrm>
          <a:prstGeom prst="rect">
            <a:avLst/>
          </a:prstGeom>
        </p:spPr>
      </p:pic>
      <p:pic>
        <p:nvPicPr>
          <p:cNvPr id="12" name="Picture 11">
            <a:extLst>
              <a:ext uri="{FF2B5EF4-FFF2-40B4-BE49-F238E27FC236}">
                <a16:creationId xmlns:a16="http://schemas.microsoft.com/office/drawing/2014/main" id="{6789BFBB-D27F-F8AB-73A4-D2BDE301D606}"/>
              </a:ext>
            </a:extLst>
          </p:cNvPr>
          <p:cNvPicPr>
            <a:picLocks noChangeAspect="1"/>
          </p:cNvPicPr>
          <p:nvPr/>
        </p:nvPicPr>
        <p:blipFill>
          <a:blip r:embed="rId5"/>
          <a:stretch>
            <a:fillRect/>
          </a:stretch>
        </p:blipFill>
        <p:spPr>
          <a:xfrm>
            <a:off x="40953" y="4990249"/>
            <a:ext cx="424285" cy="424285"/>
          </a:xfrm>
          <a:prstGeom prst="rect">
            <a:avLst/>
          </a:prstGeom>
        </p:spPr>
      </p:pic>
      <p:pic>
        <p:nvPicPr>
          <p:cNvPr id="14" name="Picture 13">
            <a:extLst>
              <a:ext uri="{FF2B5EF4-FFF2-40B4-BE49-F238E27FC236}">
                <a16:creationId xmlns:a16="http://schemas.microsoft.com/office/drawing/2014/main" id="{1D82B30E-4490-E9F5-06FF-E97127661175}"/>
              </a:ext>
            </a:extLst>
          </p:cNvPr>
          <p:cNvPicPr>
            <a:picLocks noChangeAspect="1"/>
          </p:cNvPicPr>
          <p:nvPr/>
        </p:nvPicPr>
        <p:blipFill>
          <a:blip r:embed="rId6"/>
          <a:stretch>
            <a:fillRect/>
          </a:stretch>
        </p:blipFill>
        <p:spPr>
          <a:xfrm flipH="1">
            <a:off x="44150" y="5845245"/>
            <a:ext cx="394796" cy="487722"/>
          </a:xfrm>
          <a:prstGeom prst="rect">
            <a:avLst/>
          </a:prstGeom>
        </p:spPr>
      </p:pic>
      <p:pic>
        <p:nvPicPr>
          <p:cNvPr id="15" name="Picture 14">
            <a:extLst>
              <a:ext uri="{FF2B5EF4-FFF2-40B4-BE49-F238E27FC236}">
                <a16:creationId xmlns:a16="http://schemas.microsoft.com/office/drawing/2014/main" id="{6F672DDF-73B4-3068-A3E3-E630CB2B124C}"/>
              </a:ext>
            </a:extLst>
          </p:cNvPr>
          <p:cNvPicPr>
            <a:picLocks noChangeAspect="1"/>
          </p:cNvPicPr>
          <p:nvPr/>
        </p:nvPicPr>
        <p:blipFill>
          <a:blip r:embed="rId7"/>
          <a:stretch>
            <a:fillRect/>
          </a:stretch>
        </p:blipFill>
        <p:spPr>
          <a:xfrm>
            <a:off x="56450" y="5433875"/>
            <a:ext cx="387066" cy="392029"/>
          </a:xfrm>
          <a:prstGeom prst="rect">
            <a:avLst/>
          </a:prstGeom>
        </p:spPr>
      </p:pic>
      <p:sp>
        <p:nvSpPr>
          <p:cNvPr id="16" name="TextBox 15">
            <a:extLst>
              <a:ext uri="{FF2B5EF4-FFF2-40B4-BE49-F238E27FC236}">
                <a16:creationId xmlns:a16="http://schemas.microsoft.com/office/drawing/2014/main" id="{B14FFF1B-0167-C399-F6FC-AE163AF703BF}"/>
              </a:ext>
            </a:extLst>
          </p:cNvPr>
          <p:cNvSpPr txBox="1"/>
          <p:nvPr/>
        </p:nvSpPr>
        <p:spPr>
          <a:xfrm>
            <a:off x="438946" y="4605542"/>
            <a:ext cx="1412566" cy="369332"/>
          </a:xfrm>
          <a:prstGeom prst="rect">
            <a:avLst/>
          </a:prstGeom>
          <a:noFill/>
        </p:spPr>
        <p:txBody>
          <a:bodyPr wrap="none" rtlCol="0">
            <a:spAutoFit/>
          </a:bodyPr>
          <a:lstStyle/>
          <a:p>
            <a:r>
              <a:rPr lang="en-US" noProof="1"/>
              <a:t>@IDSchools</a:t>
            </a:r>
          </a:p>
        </p:txBody>
      </p:sp>
      <p:sp>
        <p:nvSpPr>
          <p:cNvPr id="17" name="TextBox 16">
            <a:extLst>
              <a:ext uri="{FF2B5EF4-FFF2-40B4-BE49-F238E27FC236}">
                <a16:creationId xmlns:a16="http://schemas.microsoft.com/office/drawing/2014/main" id="{2502AB45-71EC-065B-500B-AB02E4E037D5}"/>
              </a:ext>
            </a:extLst>
          </p:cNvPr>
          <p:cNvSpPr txBox="1"/>
          <p:nvPr/>
        </p:nvSpPr>
        <p:spPr>
          <a:xfrm>
            <a:off x="465238" y="5032175"/>
            <a:ext cx="2959606" cy="369332"/>
          </a:xfrm>
          <a:prstGeom prst="rect">
            <a:avLst/>
          </a:prstGeom>
          <a:noFill/>
        </p:spPr>
        <p:txBody>
          <a:bodyPr wrap="square" rtlCol="0">
            <a:spAutoFit/>
          </a:bodyPr>
          <a:lstStyle/>
          <a:p>
            <a:r>
              <a:rPr lang="en-US" dirty="0"/>
              <a:t>@</a:t>
            </a:r>
            <a:r>
              <a:rPr lang="en-US" noProof="1"/>
              <a:t>Interdisciplinaryschools</a:t>
            </a:r>
            <a:endParaRPr lang="en-US" dirty="0"/>
          </a:p>
        </p:txBody>
      </p:sp>
      <p:sp>
        <p:nvSpPr>
          <p:cNvPr id="18" name="TextBox 17">
            <a:extLst>
              <a:ext uri="{FF2B5EF4-FFF2-40B4-BE49-F238E27FC236}">
                <a16:creationId xmlns:a16="http://schemas.microsoft.com/office/drawing/2014/main" id="{DAB6315F-A587-3B98-DEE5-9D25B6BD4304}"/>
              </a:ext>
            </a:extLst>
          </p:cNvPr>
          <p:cNvSpPr txBox="1"/>
          <p:nvPr/>
        </p:nvSpPr>
        <p:spPr>
          <a:xfrm>
            <a:off x="465238" y="5486264"/>
            <a:ext cx="2959606" cy="369332"/>
          </a:xfrm>
          <a:prstGeom prst="rect">
            <a:avLst/>
          </a:prstGeom>
          <a:noFill/>
        </p:spPr>
        <p:txBody>
          <a:bodyPr wrap="square" rtlCol="0">
            <a:spAutoFit/>
          </a:bodyPr>
          <a:lstStyle/>
          <a:p>
            <a:r>
              <a:rPr lang="en-US" dirty="0"/>
              <a:t>@interdisciplinary-schools</a:t>
            </a:r>
          </a:p>
        </p:txBody>
      </p:sp>
      <p:sp>
        <p:nvSpPr>
          <p:cNvPr id="19" name="TextBox 18">
            <a:extLst>
              <a:ext uri="{FF2B5EF4-FFF2-40B4-BE49-F238E27FC236}">
                <a16:creationId xmlns:a16="http://schemas.microsoft.com/office/drawing/2014/main" id="{3732BB0C-2018-7963-970F-DED7A6CC5D1C}"/>
              </a:ext>
            </a:extLst>
          </p:cNvPr>
          <p:cNvSpPr txBox="1"/>
          <p:nvPr/>
        </p:nvSpPr>
        <p:spPr>
          <a:xfrm>
            <a:off x="465237" y="5940353"/>
            <a:ext cx="4007009" cy="369332"/>
          </a:xfrm>
          <a:prstGeom prst="rect">
            <a:avLst/>
          </a:prstGeom>
          <a:noFill/>
        </p:spPr>
        <p:txBody>
          <a:bodyPr wrap="square" rtlCol="0">
            <a:spAutoFit/>
          </a:bodyPr>
          <a:lstStyle/>
          <a:p>
            <a:r>
              <a:rPr lang="en-US" noProof="1"/>
              <a:t>https://interdisciplinaryschools.com</a:t>
            </a:r>
          </a:p>
        </p:txBody>
      </p:sp>
      <p:cxnSp>
        <p:nvCxnSpPr>
          <p:cNvPr id="24" name="Straight Connector 23">
            <a:extLst>
              <a:ext uri="{FF2B5EF4-FFF2-40B4-BE49-F238E27FC236}">
                <a16:creationId xmlns:a16="http://schemas.microsoft.com/office/drawing/2014/main" id="{44D6149D-5467-16FF-B507-073DC9F9FC3B}"/>
              </a:ext>
            </a:extLst>
          </p:cNvPr>
          <p:cNvCxnSpPr>
            <a:cxnSpLocks/>
          </p:cNvCxnSpPr>
          <p:nvPr/>
        </p:nvCxnSpPr>
        <p:spPr>
          <a:xfrm>
            <a:off x="0" y="6450676"/>
            <a:ext cx="4472246" cy="0"/>
          </a:xfrm>
          <a:prstGeom prst="line">
            <a:avLst/>
          </a:prstGeom>
        </p:spPr>
        <p:style>
          <a:lnRef idx="2">
            <a:schemeClr val="accent4"/>
          </a:lnRef>
          <a:fillRef idx="0">
            <a:schemeClr val="accent4"/>
          </a:fillRef>
          <a:effectRef idx="1">
            <a:schemeClr val="accent4"/>
          </a:effectRef>
          <a:fontRef idx="minor">
            <a:schemeClr val="tx1"/>
          </a:fontRef>
        </p:style>
      </p:cxnSp>
      <p:sp>
        <p:nvSpPr>
          <p:cNvPr id="27" name="TextBox 26">
            <a:extLst>
              <a:ext uri="{FF2B5EF4-FFF2-40B4-BE49-F238E27FC236}">
                <a16:creationId xmlns:a16="http://schemas.microsoft.com/office/drawing/2014/main" id="{10315489-043E-A38B-B02B-69616821479C}"/>
              </a:ext>
            </a:extLst>
          </p:cNvPr>
          <p:cNvSpPr txBox="1"/>
          <p:nvPr/>
        </p:nvSpPr>
        <p:spPr>
          <a:xfrm>
            <a:off x="4472245" y="6266010"/>
            <a:ext cx="3840482" cy="400110"/>
          </a:xfrm>
          <a:prstGeom prst="rect">
            <a:avLst/>
          </a:prstGeom>
          <a:noFill/>
        </p:spPr>
        <p:txBody>
          <a:bodyPr wrap="square" rtlCol="0">
            <a:spAutoFit/>
          </a:bodyPr>
          <a:lstStyle/>
          <a:p>
            <a:r>
              <a:rPr lang="en-US" sz="2000" dirty="0"/>
              <a:t>Interdisciplinary schools|2026</a:t>
            </a:r>
          </a:p>
        </p:txBody>
      </p:sp>
      <p:cxnSp>
        <p:nvCxnSpPr>
          <p:cNvPr id="28" name="Straight Connector 27">
            <a:extLst>
              <a:ext uri="{FF2B5EF4-FFF2-40B4-BE49-F238E27FC236}">
                <a16:creationId xmlns:a16="http://schemas.microsoft.com/office/drawing/2014/main" id="{29ACF936-C1F0-5A38-3EB1-554DDFF03FF8}"/>
              </a:ext>
            </a:extLst>
          </p:cNvPr>
          <p:cNvCxnSpPr>
            <a:cxnSpLocks/>
          </p:cNvCxnSpPr>
          <p:nvPr/>
        </p:nvCxnSpPr>
        <p:spPr>
          <a:xfrm>
            <a:off x="7883238" y="6453446"/>
            <a:ext cx="4308762" cy="0"/>
          </a:xfrm>
          <a:prstGeom prst="line">
            <a:avLst/>
          </a:prstGeom>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747162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B97718-5F06-4859-C3B1-6D901238D1F8}"/>
              </a:ext>
            </a:extLst>
          </p:cNvPr>
          <p:cNvPicPr>
            <a:picLocks noChangeAspect="1"/>
          </p:cNvPicPr>
          <p:nvPr/>
        </p:nvPicPr>
        <p:blipFill>
          <a:blip r:embed="rId2"/>
          <a:stretch>
            <a:fillRect/>
          </a:stretch>
        </p:blipFill>
        <p:spPr>
          <a:xfrm>
            <a:off x="920047" y="42378"/>
            <a:ext cx="10351905" cy="6773243"/>
          </a:xfrm>
          <a:prstGeom prst="rect">
            <a:avLst/>
          </a:prstGeom>
        </p:spPr>
      </p:pic>
      <p:sp>
        <p:nvSpPr>
          <p:cNvPr id="8" name="Rounded Rectangle 7">
            <a:extLst>
              <a:ext uri="{FF2B5EF4-FFF2-40B4-BE49-F238E27FC236}">
                <a16:creationId xmlns:a16="http://schemas.microsoft.com/office/drawing/2014/main" id="{9534D1CE-4BB1-FFDE-1E02-EDEF9A5D228D}"/>
              </a:ext>
            </a:extLst>
          </p:cNvPr>
          <p:cNvSpPr/>
          <p:nvPr/>
        </p:nvSpPr>
        <p:spPr>
          <a:xfrm>
            <a:off x="3746960" y="451513"/>
            <a:ext cx="4504624" cy="587141"/>
          </a:xfrm>
          <a:prstGeom prst="round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ROI-to-ROI Connectivity (RRC)</a:t>
            </a:r>
            <a:endParaRPr lang="en-US" dirty="0">
              <a:ln>
                <a:solidFill>
                  <a:sysClr val="windowText" lastClr="000000"/>
                </a:solidFill>
              </a:ln>
              <a:solidFill>
                <a:schemeClr val="tx1"/>
              </a:solidFill>
            </a:endParaRPr>
          </a:p>
        </p:txBody>
      </p:sp>
      <p:sp>
        <p:nvSpPr>
          <p:cNvPr id="9" name="Rounded Rectangle 8">
            <a:extLst>
              <a:ext uri="{FF2B5EF4-FFF2-40B4-BE49-F238E27FC236}">
                <a16:creationId xmlns:a16="http://schemas.microsoft.com/office/drawing/2014/main" id="{29ACC7A2-3884-BCE0-E100-F2034701F6CA}"/>
              </a:ext>
            </a:extLst>
          </p:cNvPr>
          <p:cNvSpPr/>
          <p:nvPr/>
        </p:nvSpPr>
        <p:spPr>
          <a:xfrm>
            <a:off x="729914" y="1241659"/>
            <a:ext cx="10732169" cy="818147"/>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Instead of comparing one seed to every voxel, it computes connectivity </a:t>
            </a:r>
            <a:r>
              <a:rPr lang="en-US" dirty="0">
                <a:solidFill>
                  <a:srgbClr val="FF0000"/>
                </a:solidFill>
              </a:rPr>
              <a:t>only between selected ROIs</a:t>
            </a:r>
            <a:r>
              <a:rPr lang="en-US" dirty="0"/>
              <a:t>.</a:t>
            </a:r>
          </a:p>
        </p:txBody>
      </p:sp>
      <p:pic>
        <p:nvPicPr>
          <p:cNvPr id="11" name="Picture 10">
            <a:extLst>
              <a:ext uri="{FF2B5EF4-FFF2-40B4-BE49-F238E27FC236}">
                <a16:creationId xmlns:a16="http://schemas.microsoft.com/office/drawing/2014/main" id="{A3670997-D906-36FD-1252-171357948D42}"/>
              </a:ext>
            </a:extLst>
          </p:cNvPr>
          <p:cNvPicPr>
            <a:picLocks noChangeAspect="1"/>
          </p:cNvPicPr>
          <p:nvPr/>
        </p:nvPicPr>
        <p:blipFill>
          <a:blip r:embed="rId3"/>
          <a:stretch>
            <a:fillRect/>
          </a:stretch>
        </p:blipFill>
        <p:spPr>
          <a:xfrm>
            <a:off x="5999272" y="2242684"/>
            <a:ext cx="5462811" cy="2983833"/>
          </a:xfrm>
          <a:prstGeom prst="rect">
            <a:avLst/>
          </a:prstGeom>
        </p:spPr>
      </p:pic>
      <p:sp>
        <p:nvSpPr>
          <p:cNvPr id="12" name="Rounded Rectangle 11">
            <a:extLst>
              <a:ext uri="{FF2B5EF4-FFF2-40B4-BE49-F238E27FC236}">
                <a16:creationId xmlns:a16="http://schemas.microsoft.com/office/drawing/2014/main" id="{91F99CEA-5A35-5BC7-E4A9-782C9946C8B0}"/>
              </a:ext>
            </a:extLst>
          </p:cNvPr>
          <p:cNvSpPr/>
          <p:nvPr/>
        </p:nvSpPr>
        <p:spPr>
          <a:xfrm>
            <a:off x="920047" y="2156059"/>
            <a:ext cx="4672231" cy="3301465"/>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 Define ROIs</a:t>
            </a:r>
          </a:p>
          <a:p>
            <a:pPr algn="ctr"/>
            <a:r>
              <a:rPr lang="en-US" dirty="0">
                <a:ln w="0"/>
                <a:solidFill>
                  <a:schemeClr val="tx1"/>
                </a:solidFill>
                <a:effectLst>
                  <a:outerShdw blurRad="38100" dist="19050" dir="2700000" algn="tl" rotWithShape="0">
                    <a:schemeClr val="dk1">
                      <a:alpha val="40000"/>
                    </a:schemeClr>
                  </a:outerShdw>
                </a:effectLst>
              </a:rPr>
              <a:t>2-Extract Mean and Time Series from each ROI</a:t>
            </a:r>
          </a:p>
          <a:p>
            <a:pPr algn="ctr"/>
            <a:r>
              <a:rPr lang="en-US" dirty="0">
                <a:ln w="0"/>
                <a:solidFill>
                  <a:schemeClr val="tx1"/>
                </a:solidFill>
                <a:effectLst>
                  <a:outerShdw blurRad="38100" dist="19050" dir="2700000" algn="tl" rotWithShape="0">
                    <a:schemeClr val="dk1">
                      <a:alpha val="40000"/>
                    </a:schemeClr>
                  </a:outerShdw>
                </a:effectLst>
              </a:rPr>
              <a:t>3-Pairwise Correlation between all ROI time series</a:t>
            </a:r>
          </a:p>
          <a:p>
            <a:pPr algn="ctr"/>
            <a:r>
              <a:rPr lang="en-US" dirty="0">
                <a:ln w="0"/>
                <a:solidFill>
                  <a:schemeClr val="tx1"/>
                </a:solidFill>
                <a:effectLst>
                  <a:outerShdw blurRad="38100" dist="19050" dir="2700000" algn="tl" rotWithShape="0">
                    <a:schemeClr val="dk1">
                      <a:alpha val="40000"/>
                    </a:schemeClr>
                  </a:outerShdw>
                </a:effectLst>
              </a:rPr>
              <a:t>5-Statistical Analysis (GLM) for condition/group differences.</a:t>
            </a:r>
          </a:p>
        </p:txBody>
      </p:sp>
      <p:cxnSp>
        <p:nvCxnSpPr>
          <p:cNvPr id="13" name="Straight Connector 12">
            <a:extLst>
              <a:ext uri="{FF2B5EF4-FFF2-40B4-BE49-F238E27FC236}">
                <a16:creationId xmlns:a16="http://schemas.microsoft.com/office/drawing/2014/main" id="{53F7A554-6813-EEE3-DAE0-514C59AFDA06}"/>
              </a:ext>
            </a:extLst>
          </p:cNvPr>
          <p:cNvCxnSpPr>
            <a:cxnSpLocks/>
          </p:cNvCxnSpPr>
          <p:nvPr/>
        </p:nvCxnSpPr>
        <p:spPr>
          <a:xfrm>
            <a:off x="0" y="6450676"/>
            <a:ext cx="4472246"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14" name="Straight Connector 13">
            <a:extLst>
              <a:ext uri="{FF2B5EF4-FFF2-40B4-BE49-F238E27FC236}">
                <a16:creationId xmlns:a16="http://schemas.microsoft.com/office/drawing/2014/main" id="{1149F717-C4C9-B741-4F55-7ACD77209FD6}"/>
              </a:ext>
            </a:extLst>
          </p:cNvPr>
          <p:cNvCxnSpPr>
            <a:cxnSpLocks/>
          </p:cNvCxnSpPr>
          <p:nvPr/>
        </p:nvCxnSpPr>
        <p:spPr>
          <a:xfrm>
            <a:off x="7891111" y="6452571"/>
            <a:ext cx="4300889" cy="0"/>
          </a:xfrm>
          <a:prstGeom prst="line">
            <a:avLst/>
          </a:prstGeom>
        </p:spPr>
        <p:style>
          <a:lnRef idx="2">
            <a:schemeClr val="accent4"/>
          </a:lnRef>
          <a:fillRef idx="0">
            <a:schemeClr val="accent4"/>
          </a:fillRef>
          <a:effectRef idx="1">
            <a:schemeClr val="accent4"/>
          </a:effectRef>
          <a:fontRef idx="minor">
            <a:schemeClr val="tx1"/>
          </a:fontRef>
        </p:style>
      </p:cxnSp>
      <p:sp>
        <p:nvSpPr>
          <p:cNvPr id="15" name="TextBox 14">
            <a:extLst>
              <a:ext uri="{FF2B5EF4-FFF2-40B4-BE49-F238E27FC236}">
                <a16:creationId xmlns:a16="http://schemas.microsoft.com/office/drawing/2014/main" id="{B6979C7D-0C62-695D-C8C1-C6954D4B4A58}"/>
              </a:ext>
            </a:extLst>
          </p:cNvPr>
          <p:cNvSpPr txBox="1"/>
          <p:nvPr/>
        </p:nvSpPr>
        <p:spPr>
          <a:xfrm>
            <a:off x="4472245" y="6266010"/>
            <a:ext cx="3840482" cy="400110"/>
          </a:xfrm>
          <a:prstGeom prst="rect">
            <a:avLst/>
          </a:prstGeom>
          <a:noFill/>
        </p:spPr>
        <p:txBody>
          <a:bodyPr wrap="square" rtlCol="0">
            <a:spAutoFit/>
          </a:bodyPr>
          <a:lstStyle/>
          <a:p>
            <a:r>
              <a:rPr lang="en-US" sz="2000" dirty="0"/>
              <a:t>Interdisciplinary schools|2026</a:t>
            </a:r>
          </a:p>
        </p:txBody>
      </p:sp>
      <p:sp>
        <p:nvSpPr>
          <p:cNvPr id="17" name="Delay 16">
            <a:extLst>
              <a:ext uri="{FF2B5EF4-FFF2-40B4-BE49-F238E27FC236}">
                <a16:creationId xmlns:a16="http://schemas.microsoft.com/office/drawing/2014/main" id="{F2A47C4A-5716-3FA8-6A0F-798F8BAFA6EB}"/>
              </a:ext>
            </a:extLst>
          </p:cNvPr>
          <p:cNvSpPr/>
          <p:nvPr/>
        </p:nvSpPr>
        <p:spPr>
          <a:xfrm>
            <a:off x="-3127" y="365900"/>
            <a:ext cx="849394" cy="636504"/>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extLst>
      <p:ext uri="{BB962C8B-B14F-4D97-AF65-F5344CB8AC3E}">
        <p14:creationId xmlns:p14="http://schemas.microsoft.com/office/powerpoint/2010/main" val="560960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AC171F-79DD-8735-29A2-F37E6DD07AE5}"/>
              </a:ext>
            </a:extLst>
          </p:cNvPr>
          <p:cNvPicPr>
            <a:picLocks noChangeAspect="1"/>
          </p:cNvPicPr>
          <p:nvPr/>
        </p:nvPicPr>
        <p:blipFill>
          <a:blip r:embed="rId2"/>
          <a:stretch>
            <a:fillRect/>
          </a:stretch>
        </p:blipFill>
        <p:spPr>
          <a:xfrm>
            <a:off x="920047" y="42378"/>
            <a:ext cx="10351905" cy="6773243"/>
          </a:xfrm>
          <a:prstGeom prst="rect">
            <a:avLst/>
          </a:prstGeom>
        </p:spPr>
      </p:pic>
      <p:sp>
        <p:nvSpPr>
          <p:cNvPr id="5" name="Rounded Rectangle 4">
            <a:extLst>
              <a:ext uri="{FF2B5EF4-FFF2-40B4-BE49-F238E27FC236}">
                <a16:creationId xmlns:a16="http://schemas.microsoft.com/office/drawing/2014/main" id="{6ECEF085-88B3-F2E6-3BB8-3E43492B43F1}"/>
              </a:ext>
            </a:extLst>
          </p:cNvPr>
          <p:cNvSpPr/>
          <p:nvPr/>
        </p:nvSpPr>
        <p:spPr>
          <a:xfrm>
            <a:off x="3800326" y="533255"/>
            <a:ext cx="4543124" cy="67376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RRC-second level analysis </a:t>
            </a:r>
          </a:p>
        </p:txBody>
      </p:sp>
      <p:pic>
        <p:nvPicPr>
          <p:cNvPr id="7" name="Picture 6">
            <a:extLst>
              <a:ext uri="{FF2B5EF4-FFF2-40B4-BE49-F238E27FC236}">
                <a16:creationId xmlns:a16="http://schemas.microsoft.com/office/drawing/2014/main" id="{C989576D-7DAA-9462-A361-F3E03178E770}"/>
              </a:ext>
            </a:extLst>
          </p:cNvPr>
          <p:cNvPicPr>
            <a:picLocks noChangeAspect="1"/>
          </p:cNvPicPr>
          <p:nvPr/>
        </p:nvPicPr>
        <p:blipFill>
          <a:blip r:embed="rId3"/>
          <a:stretch>
            <a:fillRect/>
          </a:stretch>
        </p:blipFill>
        <p:spPr>
          <a:xfrm>
            <a:off x="441786" y="1607381"/>
            <a:ext cx="3406766" cy="3224464"/>
          </a:xfrm>
          <a:prstGeom prst="rect">
            <a:avLst/>
          </a:prstGeom>
        </p:spPr>
      </p:pic>
      <p:sp>
        <p:nvSpPr>
          <p:cNvPr id="10" name="TextBox 9">
            <a:extLst>
              <a:ext uri="{FF2B5EF4-FFF2-40B4-BE49-F238E27FC236}">
                <a16:creationId xmlns:a16="http://schemas.microsoft.com/office/drawing/2014/main" id="{1FDB5BDE-E976-731B-4D65-32BDF3DE5802}"/>
              </a:ext>
            </a:extLst>
          </p:cNvPr>
          <p:cNvSpPr txBox="1"/>
          <p:nvPr/>
        </p:nvSpPr>
        <p:spPr>
          <a:xfrm>
            <a:off x="-790663" y="4912065"/>
            <a:ext cx="6097604" cy="338554"/>
          </a:xfrm>
          <a:prstGeom prst="rect">
            <a:avLst/>
          </a:prstGeom>
          <a:noFill/>
        </p:spPr>
        <p:txBody>
          <a:bodyPr wrap="square">
            <a:spAutoFit/>
          </a:bodyPr>
          <a:lstStyle/>
          <a:p>
            <a:pPr algn="ctr"/>
            <a:r>
              <a:rPr lang="en-US" sz="1600" dirty="0">
                <a:solidFill>
                  <a:schemeClr val="tx1"/>
                </a:solidFill>
              </a:rPr>
              <a:t>Note how symmetric the matrix is </a:t>
            </a:r>
          </a:p>
        </p:txBody>
      </p:sp>
      <p:pic>
        <p:nvPicPr>
          <p:cNvPr id="12" name="Picture 11">
            <a:extLst>
              <a:ext uri="{FF2B5EF4-FFF2-40B4-BE49-F238E27FC236}">
                <a16:creationId xmlns:a16="http://schemas.microsoft.com/office/drawing/2014/main" id="{3F764007-4A73-7310-5F1F-C4C8CD118A44}"/>
              </a:ext>
            </a:extLst>
          </p:cNvPr>
          <p:cNvPicPr>
            <a:picLocks noChangeAspect="1"/>
          </p:cNvPicPr>
          <p:nvPr/>
        </p:nvPicPr>
        <p:blipFill>
          <a:blip r:embed="rId4"/>
          <a:stretch>
            <a:fillRect/>
          </a:stretch>
        </p:blipFill>
        <p:spPr>
          <a:xfrm>
            <a:off x="3965902" y="1731238"/>
            <a:ext cx="4377548" cy="2231691"/>
          </a:xfrm>
          <a:prstGeom prst="rect">
            <a:avLst/>
          </a:prstGeom>
        </p:spPr>
      </p:pic>
      <p:sp>
        <p:nvSpPr>
          <p:cNvPr id="13" name="TextBox 12">
            <a:extLst>
              <a:ext uri="{FF2B5EF4-FFF2-40B4-BE49-F238E27FC236}">
                <a16:creationId xmlns:a16="http://schemas.microsoft.com/office/drawing/2014/main" id="{2E9EE3C0-CA94-B016-3288-3CC0EF1539B1}"/>
              </a:ext>
            </a:extLst>
          </p:cNvPr>
          <p:cNvSpPr txBox="1"/>
          <p:nvPr/>
        </p:nvSpPr>
        <p:spPr>
          <a:xfrm>
            <a:off x="3965902" y="4089878"/>
            <a:ext cx="4500597" cy="1815882"/>
          </a:xfrm>
          <a:prstGeom prst="rect">
            <a:avLst/>
          </a:prstGeom>
          <a:noFill/>
        </p:spPr>
        <p:txBody>
          <a:bodyPr wrap="square" rtlCol="0">
            <a:spAutoFit/>
          </a:bodyPr>
          <a:lstStyle/>
          <a:p>
            <a:r>
              <a:rPr lang="en-US" sz="1400" dirty="0"/>
              <a:t>Figure4.the functional connectivity map of the nodes </a:t>
            </a:r>
            <a:r>
              <a:rPr lang="en-US" sz="1400" dirty="0">
                <a:sym typeface="Wingdings" pitchFamily="2" charset="2"/>
              </a:rPr>
              <a:t>: (a) The darker red lines show strong connectivity, whereas the blue lines show weaker connectivity in the connectome ring.(b) The topological locations of the determined nodes in the brain. The darker red lines show that even though the nodes settle in distinct regions, they are connected with strong functional connectivity.</a:t>
            </a:r>
            <a:endParaRPr lang="en-US" sz="1400" dirty="0"/>
          </a:p>
        </p:txBody>
      </p:sp>
      <p:pic>
        <p:nvPicPr>
          <p:cNvPr id="15" name="Picture 14">
            <a:extLst>
              <a:ext uri="{FF2B5EF4-FFF2-40B4-BE49-F238E27FC236}">
                <a16:creationId xmlns:a16="http://schemas.microsoft.com/office/drawing/2014/main" id="{53D48CA2-33F4-7F84-4D94-D3B9F60695B5}"/>
              </a:ext>
            </a:extLst>
          </p:cNvPr>
          <p:cNvPicPr>
            <a:picLocks noChangeAspect="1"/>
          </p:cNvPicPr>
          <p:nvPr/>
        </p:nvPicPr>
        <p:blipFill>
          <a:blip r:embed="rId5"/>
          <a:stretch>
            <a:fillRect/>
          </a:stretch>
        </p:blipFill>
        <p:spPr>
          <a:xfrm>
            <a:off x="8460800" y="2241549"/>
            <a:ext cx="3492500" cy="2374900"/>
          </a:xfrm>
          <a:prstGeom prst="rect">
            <a:avLst/>
          </a:prstGeom>
        </p:spPr>
      </p:pic>
      <p:cxnSp>
        <p:nvCxnSpPr>
          <p:cNvPr id="17" name="Straight Connector 16">
            <a:extLst>
              <a:ext uri="{FF2B5EF4-FFF2-40B4-BE49-F238E27FC236}">
                <a16:creationId xmlns:a16="http://schemas.microsoft.com/office/drawing/2014/main" id="{87AA6296-E628-F2D2-F416-196BED33D215}"/>
              </a:ext>
            </a:extLst>
          </p:cNvPr>
          <p:cNvCxnSpPr>
            <a:cxnSpLocks/>
          </p:cNvCxnSpPr>
          <p:nvPr/>
        </p:nvCxnSpPr>
        <p:spPr>
          <a:xfrm>
            <a:off x="0" y="6450676"/>
            <a:ext cx="4472246"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18" name="Straight Connector 17">
            <a:extLst>
              <a:ext uri="{FF2B5EF4-FFF2-40B4-BE49-F238E27FC236}">
                <a16:creationId xmlns:a16="http://schemas.microsoft.com/office/drawing/2014/main" id="{0849848D-545B-F078-9C3E-3B5AD509506B}"/>
              </a:ext>
            </a:extLst>
          </p:cNvPr>
          <p:cNvCxnSpPr>
            <a:cxnSpLocks/>
          </p:cNvCxnSpPr>
          <p:nvPr/>
        </p:nvCxnSpPr>
        <p:spPr>
          <a:xfrm>
            <a:off x="7891880" y="6450676"/>
            <a:ext cx="4300120" cy="0"/>
          </a:xfrm>
          <a:prstGeom prst="line">
            <a:avLst/>
          </a:prstGeom>
        </p:spPr>
        <p:style>
          <a:lnRef idx="2">
            <a:schemeClr val="accent4"/>
          </a:lnRef>
          <a:fillRef idx="0">
            <a:schemeClr val="accent4"/>
          </a:fillRef>
          <a:effectRef idx="1">
            <a:schemeClr val="accent4"/>
          </a:effectRef>
          <a:fontRef idx="minor">
            <a:schemeClr val="tx1"/>
          </a:fontRef>
        </p:style>
      </p:cxnSp>
      <p:sp>
        <p:nvSpPr>
          <p:cNvPr id="20" name="TextBox 19">
            <a:extLst>
              <a:ext uri="{FF2B5EF4-FFF2-40B4-BE49-F238E27FC236}">
                <a16:creationId xmlns:a16="http://schemas.microsoft.com/office/drawing/2014/main" id="{1791B1D6-7BA3-A8FA-689E-55D58B054696}"/>
              </a:ext>
            </a:extLst>
          </p:cNvPr>
          <p:cNvSpPr txBox="1"/>
          <p:nvPr/>
        </p:nvSpPr>
        <p:spPr>
          <a:xfrm>
            <a:off x="4472246" y="6250621"/>
            <a:ext cx="6492240" cy="400110"/>
          </a:xfrm>
          <a:prstGeom prst="rect">
            <a:avLst/>
          </a:prstGeom>
          <a:noFill/>
        </p:spPr>
        <p:txBody>
          <a:bodyPr wrap="square">
            <a:spAutoFit/>
          </a:bodyPr>
          <a:lstStyle/>
          <a:p>
            <a:r>
              <a:rPr lang="en-US" sz="2000" dirty="0"/>
              <a:t>Interdisciplinary schools|2026</a:t>
            </a:r>
          </a:p>
        </p:txBody>
      </p:sp>
      <p:sp>
        <p:nvSpPr>
          <p:cNvPr id="23" name="Delay 22">
            <a:extLst>
              <a:ext uri="{FF2B5EF4-FFF2-40B4-BE49-F238E27FC236}">
                <a16:creationId xmlns:a16="http://schemas.microsoft.com/office/drawing/2014/main" id="{A21DE7C8-B703-EDB2-A5F5-27156D695488}"/>
              </a:ext>
            </a:extLst>
          </p:cNvPr>
          <p:cNvSpPr/>
          <p:nvPr/>
        </p:nvSpPr>
        <p:spPr>
          <a:xfrm>
            <a:off x="-3127" y="365900"/>
            <a:ext cx="849394" cy="636504"/>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1937621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1992EB-22BD-92AB-0812-168E45A3916F}"/>
              </a:ext>
            </a:extLst>
          </p:cNvPr>
          <p:cNvPicPr>
            <a:picLocks noChangeAspect="1"/>
          </p:cNvPicPr>
          <p:nvPr/>
        </p:nvPicPr>
        <p:blipFill>
          <a:blip r:embed="rId2"/>
          <a:stretch>
            <a:fillRect/>
          </a:stretch>
        </p:blipFill>
        <p:spPr>
          <a:xfrm>
            <a:off x="920047" y="42378"/>
            <a:ext cx="10351905" cy="6773243"/>
          </a:xfrm>
          <a:prstGeom prst="rect">
            <a:avLst/>
          </a:prstGeom>
        </p:spPr>
      </p:pic>
      <p:sp>
        <p:nvSpPr>
          <p:cNvPr id="5" name="Rounded Rectangle 4">
            <a:extLst>
              <a:ext uri="{FF2B5EF4-FFF2-40B4-BE49-F238E27FC236}">
                <a16:creationId xmlns:a16="http://schemas.microsoft.com/office/drawing/2014/main" id="{59E7B76E-6599-7362-93F2-6D424D2F4A78}"/>
              </a:ext>
            </a:extLst>
          </p:cNvPr>
          <p:cNvSpPr/>
          <p:nvPr/>
        </p:nvSpPr>
        <p:spPr>
          <a:xfrm>
            <a:off x="1100487" y="271178"/>
            <a:ext cx="4908884" cy="644893"/>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RRC vs. SBC comparison</a:t>
            </a:r>
          </a:p>
        </p:txBody>
      </p:sp>
      <p:pic>
        <p:nvPicPr>
          <p:cNvPr id="7" name="Picture 6">
            <a:extLst>
              <a:ext uri="{FF2B5EF4-FFF2-40B4-BE49-F238E27FC236}">
                <a16:creationId xmlns:a16="http://schemas.microsoft.com/office/drawing/2014/main" id="{C190EA50-A2C2-A36C-7B84-6412F4069025}"/>
              </a:ext>
            </a:extLst>
          </p:cNvPr>
          <p:cNvPicPr>
            <a:picLocks noChangeAspect="1"/>
          </p:cNvPicPr>
          <p:nvPr/>
        </p:nvPicPr>
        <p:blipFill>
          <a:blip r:embed="rId3"/>
          <a:stretch>
            <a:fillRect/>
          </a:stretch>
        </p:blipFill>
        <p:spPr>
          <a:xfrm>
            <a:off x="1100487" y="1144871"/>
            <a:ext cx="9991023" cy="4996047"/>
          </a:xfrm>
          <a:prstGeom prst="rect">
            <a:avLst/>
          </a:prstGeom>
          <a:ln>
            <a:noFill/>
          </a:ln>
          <a:effectLst>
            <a:outerShdw blurRad="190500" algn="tl" rotWithShape="0">
              <a:srgbClr val="000000">
                <a:alpha val="70000"/>
              </a:srgbClr>
            </a:outerShdw>
          </a:effectLst>
        </p:spPr>
      </p:pic>
      <p:cxnSp>
        <p:nvCxnSpPr>
          <p:cNvPr id="8" name="Straight Connector 7">
            <a:extLst>
              <a:ext uri="{FF2B5EF4-FFF2-40B4-BE49-F238E27FC236}">
                <a16:creationId xmlns:a16="http://schemas.microsoft.com/office/drawing/2014/main" id="{89439955-9994-E7C2-0B02-666C12C6ADE5}"/>
              </a:ext>
            </a:extLst>
          </p:cNvPr>
          <p:cNvCxnSpPr>
            <a:cxnSpLocks/>
          </p:cNvCxnSpPr>
          <p:nvPr/>
        </p:nvCxnSpPr>
        <p:spPr>
          <a:xfrm>
            <a:off x="0" y="6450676"/>
            <a:ext cx="4472246"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9" name="Straight Connector 8">
            <a:extLst>
              <a:ext uri="{FF2B5EF4-FFF2-40B4-BE49-F238E27FC236}">
                <a16:creationId xmlns:a16="http://schemas.microsoft.com/office/drawing/2014/main" id="{8B22E89E-7F1A-3532-F8F6-B146802C7ECF}"/>
              </a:ext>
            </a:extLst>
          </p:cNvPr>
          <p:cNvCxnSpPr>
            <a:cxnSpLocks/>
          </p:cNvCxnSpPr>
          <p:nvPr/>
        </p:nvCxnSpPr>
        <p:spPr>
          <a:xfrm>
            <a:off x="7919987" y="6450676"/>
            <a:ext cx="4272013" cy="0"/>
          </a:xfrm>
          <a:prstGeom prst="line">
            <a:avLst/>
          </a:prstGeom>
        </p:spPr>
        <p:style>
          <a:lnRef idx="2">
            <a:schemeClr val="accent4"/>
          </a:lnRef>
          <a:fillRef idx="0">
            <a:schemeClr val="accent4"/>
          </a:fillRef>
          <a:effectRef idx="1">
            <a:schemeClr val="accent4"/>
          </a:effectRef>
          <a:fontRef idx="minor">
            <a:schemeClr val="tx1"/>
          </a:fontRef>
        </p:style>
      </p:cxnSp>
      <p:sp>
        <p:nvSpPr>
          <p:cNvPr id="11" name="TextBox 10">
            <a:extLst>
              <a:ext uri="{FF2B5EF4-FFF2-40B4-BE49-F238E27FC236}">
                <a16:creationId xmlns:a16="http://schemas.microsoft.com/office/drawing/2014/main" id="{99DD0612-47D3-50AE-54C1-C9651CC3D664}"/>
              </a:ext>
            </a:extLst>
          </p:cNvPr>
          <p:cNvSpPr txBox="1"/>
          <p:nvPr/>
        </p:nvSpPr>
        <p:spPr>
          <a:xfrm>
            <a:off x="4472246" y="6250621"/>
            <a:ext cx="6097604" cy="400110"/>
          </a:xfrm>
          <a:prstGeom prst="rect">
            <a:avLst/>
          </a:prstGeom>
          <a:noFill/>
        </p:spPr>
        <p:txBody>
          <a:bodyPr wrap="square">
            <a:spAutoFit/>
          </a:bodyPr>
          <a:lstStyle/>
          <a:p>
            <a:r>
              <a:rPr lang="en-US" sz="2000" dirty="0"/>
              <a:t>Interdisciplinary schools|2026</a:t>
            </a:r>
          </a:p>
        </p:txBody>
      </p:sp>
      <p:sp>
        <p:nvSpPr>
          <p:cNvPr id="15" name="Delay 14">
            <a:extLst>
              <a:ext uri="{FF2B5EF4-FFF2-40B4-BE49-F238E27FC236}">
                <a16:creationId xmlns:a16="http://schemas.microsoft.com/office/drawing/2014/main" id="{8964E5AD-F9B1-C22F-AF27-7A306FF6A0B5}"/>
              </a:ext>
            </a:extLst>
          </p:cNvPr>
          <p:cNvSpPr/>
          <p:nvPr/>
        </p:nvSpPr>
        <p:spPr>
          <a:xfrm>
            <a:off x="-3127" y="365900"/>
            <a:ext cx="849394" cy="636504"/>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Tree>
    <p:extLst>
      <p:ext uri="{BB962C8B-B14F-4D97-AF65-F5344CB8AC3E}">
        <p14:creationId xmlns:p14="http://schemas.microsoft.com/office/powerpoint/2010/main" val="4223259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6D07A2C-52CE-B371-CADE-2433A3854B20}"/>
              </a:ext>
            </a:extLst>
          </p:cNvPr>
          <p:cNvPicPr>
            <a:picLocks noChangeAspect="1"/>
          </p:cNvPicPr>
          <p:nvPr/>
        </p:nvPicPr>
        <p:blipFill>
          <a:blip r:embed="rId2"/>
          <a:stretch>
            <a:fillRect/>
          </a:stretch>
        </p:blipFill>
        <p:spPr>
          <a:xfrm>
            <a:off x="920047" y="42378"/>
            <a:ext cx="10351905" cy="6773243"/>
          </a:xfrm>
          <a:prstGeom prst="rect">
            <a:avLst/>
          </a:prstGeom>
        </p:spPr>
      </p:pic>
      <p:sp>
        <p:nvSpPr>
          <p:cNvPr id="3" name="Rounded Rectangle 2">
            <a:extLst>
              <a:ext uri="{FF2B5EF4-FFF2-40B4-BE49-F238E27FC236}">
                <a16:creationId xmlns:a16="http://schemas.microsoft.com/office/drawing/2014/main" id="{1181A799-677B-9DA1-EF3E-BF3D71FB8193}"/>
              </a:ext>
            </a:extLst>
          </p:cNvPr>
          <p:cNvSpPr/>
          <p:nvPr/>
        </p:nvSpPr>
        <p:spPr>
          <a:xfrm>
            <a:off x="2038952" y="391077"/>
            <a:ext cx="7795094" cy="1072099"/>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rgbClr val="FF0000"/>
                </a:solidFill>
                <a:effectLst>
                  <a:outerShdw blurRad="38100" dist="19050" dir="2700000" algn="tl" rotWithShape="0">
                    <a:schemeClr val="dk1">
                      <a:alpha val="40000"/>
                    </a:schemeClr>
                  </a:outerShdw>
                </a:effectLst>
              </a:rPr>
              <a:t>What statistics we’re working on </a:t>
            </a:r>
          </a:p>
          <a:p>
            <a:pPr algn="ctr"/>
            <a:r>
              <a:rPr lang="en-US" dirty="0">
                <a:ln w="0"/>
                <a:solidFill>
                  <a:schemeClr val="tx1"/>
                </a:solidFill>
                <a:effectLst>
                  <a:outerShdw blurRad="38100" dist="19050" dir="2700000" algn="tl" rotWithShape="0">
                    <a:schemeClr val="dk1">
                      <a:alpha val="40000"/>
                    </a:schemeClr>
                  </a:outerShdw>
                </a:effectLst>
              </a:rPr>
              <a:t>Voxel-wise ? Does our smoothing cause any Noise?</a:t>
            </a:r>
          </a:p>
          <a:p>
            <a:pPr algn="ctr"/>
            <a:r>
              <a:rPr lang="en-US" dirty="0">
                <a:ln w="0"/>
                <a:solidFill>
                  <a:schemeClr val="tx1"/>
                </a:solidFill>
                <a:effectLst>
                  <a:outerShdw blurRad="38100" dist="19050" dir="2700000" algn="tl" rotWithShape="0">
                    <a:schemeClr val="dk1">
                      <a:alpha val="40000"/>
                    </a:schemeClr>
                  </a:outerShdw>
                </a:effectLst>
              </a:rPr>
              <a:t>Cluster-wise?</a:t>
            </a:r>
          </a:p>
        </p:txBody>
      </p:sp>
      <p:sp>
        <p:nvSpPr>
          <p:cNvPr id="4" name="Rounded Rectangle 3">
            <a:extLst>
              <a:ext uri="{FF2B5EF4-FFF2-40B4-BE49-F238E27FC236}">
                <a16:creationId xmlns:a16="http://schemas.microsoft.com/office/drawing/2014/main" id="{0D38EBBB-1A77-27BD-B4EA-2BF0DF08CAB9}"/>
              </a:ext>
            </a:extLst>
          </p:cNvPr>
          <p:cNvSpPr/>
          <p:nvPr/>
        </p:nvSpPr>
        <p:spPr>
          <a:xfrm>
            <a:off x="673769" y="1838425"/>
            <a:ext cx="2069431" cy="924025"/>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What error rate we’re controlling</a:t>
            </a:r>
          </a:p>
        </p:txBody>
      </p:sp>
      <p:cxnSp>
        <p:nvCxnSpPr>
          <p:cNvPr id="6" name="Straight Connector 5">
            <a:extLst>
              <a:ext uri="{FF2B5EF4-FFF2-40B4-BE49-F238E27FC236}">
                <a16:creationId xmlns:a16="http://schemas.microsoft.com/office/drawing/2014/main" id="{137D2692-595F-224D-19A9-6C4D9E6BFD18}"/>
              </a:ext>
            </a:extLst>
          </p:cNvPr>
          <p:cNvCxnSpPr/>
          <p:nvPr/>
        </p:nvCxnSpPr>
        <p:spPr>
          <a:xfrm flipV="1">
            <a:off x="2732356" y="1884947"/>
            <a:ext cx="404261" cy="365760"/>
          </a:xfrm>
          <a:prstGeom prst="line">
            <a:avLst/>
          </a:prstGeom>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2F643A74-C004-F3B5-35E9-EA6083F85105}"/>
              </a:ext>
            </a:extLst>
          </p:cNvPr>
          <p:cNvCxnSpPr>
            <a:cxnSpLocks/>
          </p:cNvCxnSpPr>
          <p:nvPr/>
        </p:nvCxnSpPr>
        <p:spPr>
          <a:xfrm>
            <a:off x="2743200" y="2286801"/>
            <a:ext cx="539015" cy="13636"/>
          </a:xfrm>
          <a:prstGeom prst="line">
            <a:avLst/>
          </a:prstGeom>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6E39B0D4-B8F7-2CAA-843F-65A54B6AAFC9}"/>
              </a:ext>
            </a:extLst>
          </p:cNvPr>
          <p:cNvCxnSpPr>
            <a:cxnSpLocks/>
          </p:cNvCxnSpPr>
          <p:nvPr/>
        </p:nvCxnSpPr>
        <p:spPr>
          <a:xfrm>
            <a:off x="2743200" y="2297229"/>
            <a:ext cx="393417" cy="348114"/>
          </a:xfrm>
          <a:prstGeom prst="line">
            <a:avLst/>
          </a:prstGeom>
        </p:spPr>
        <p:style>
          <a:lnRef idx="2">
            <a:schemeClr val="dk1"/>
          </a:lnRef>
          <a:fillRef idx="0">
            <a:schemeClr val="dk1"/>
          </a:fillRef>
          <a:effectRef idx="1">
            <a:schemeClr val="dk1"/>
          </a:effectRef>
          <a:fontRef idx="minor">
            <a:schemeClr val="tx1"/>
          </a:fontRef>
        </p:style>
      </p:cxnSp>
      <p:sp>
        <p:nvSpPr>
          <p:cNvPr id="15" name="Rounded Rectangle 14">
            <a:extLst>
              <a:ext uri="{FF2B5EF4-FFF2-40B4-BE49-F238E27FC236}">
                <a16:creationId xmlns:a16="http://schemas.microsoft.com/office/drawing/2014/main" id="{76CA23A1-883F-3ED3-904F-8E1D14679BCC}"/>
              </a:ext>
            </a:extLst>
          </p:cNvPr>
          <p:cNvSpPr/>
          <p:nvPr/>
        </p:nvSpPr>
        <p:spPr>
          <a:xfrm>
            <a:off x="3146243" y="1702469"/>
            <a:ext cx="1608638" cy="316029"/>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Uncorrected</a:t>
            </a:r>
            <a:r>
              <a:rPr lang="en-US" dirty="0"/>
              <a:t> </a:t>
            </a:r>
          </a:p>
        </p:txBody>
      </p:sp>
      <p:sp>
        <p:nvSpPr>
          <p:cNvPr id="17" name="Rounded Rectangle 16">
            <a:extLst>
              <a:ext uri="{FF2B5EF4-FFF2-40B4-BE49-F238E27FC236}">
                <a16:creationId xmlns:a16="http://schemas.microsoft.com/office/drawing/2014/main" id="{46482595-ECD5-A56D-AB4E-2423EACB3920}"/>
              </a:ext>
            </a:extLst>
          </p:cNvPr>
          <p:cNvSpPr/>
          <p:nvPr/>
        </p:nvSpPr>
        <p:spPr>
          <a:xfrm>
            <a:off x="3124231" y="2161272"/>
            <a:ext cx="1630649" cy="295977"/>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FWER</a:t>
            </a:r>
          </a:p>
        </p:txBody>
      </p:sp>
      <p:sp>
        <p:nvSpPr>
          <p:cNvPr id="19" name="Rounded Rectangle 18">
            <a:extLst>
              <a:ext uri="{FF2B5EF4-FFF2-40B4-BE49-F238E27FC236}">
                <a16:creationId xmlns:a16="http://schemas.microsoft.com/office/drawing/2014/main" id="{D363875C-2F5F-31A0-DD29-EBEDE35CC2B7}"/>
              </a:ext>
            </a:extLst>
          </p:cNvPr>
          <p:cNvSpPr/>
          <p:nvPr/>
        </p:nvSpPr>
        <p:spPr>
          <a:xfrm>
            <a:off x="3136617" y="2568740"/>
            <a:ext cx="1630648" cy="29998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FDR</a:t>
            </a:r>
          </a:p>
        </p:txBody>
      </p:sp>
      <p:pic>
        <p:nvPicPr>
          <p:cNvPr id="21" name="Picture 20">
            <a:extLst>
              <a:ext uri="{FF2B5EF4-FFF2-40B4-BE49-F238E27FC236}">
                <a16:creationId xmlns:a16="http://schemas.microsoft.com/office/drawing/2014/main" id="{1988A128-FF17-0E80-FAB6-029DBFC5DF28}"/>
              </a:ext>
            </a:extLst>
          </p:cNvPr>
          <p:cNvPicPr>
            <a:picLocks noChangeAspect="1"/>
          </p:cNvPicPr>
          <p:nvPr/>
        </p:nvPicPr>
        <p:blipFill>
          <a:blip r:embed="rId3"/>
          <a:stretch>
            <a:fillRect/>
          </a:stretch>
        </p:blipFill>
        <p:spPr>
          <a:xfrm>
            <a:off x="5508411" y="1574667"/>
            <a:ext cx="3403600" cy="1689100"/>
          </a:xfrm>
          <a:prstGeom prst="rect">
            <a:avLst/>
          </a:prstGeom>
        </p:spPr>
      </p:pic>
      <p:pic>
        <p:nvPicPr>
          <p:cNvPr id="23" name="Picture 22">
            <a:extLst>
              <a:ext uri="{FF2B5EF4-FFF2-40B4-BE49-F238E27FC236}">
                <a16:creationId xmlns:a16="http://schemas.microsoft.com/office/drawing/2014/main" id="{38CEC671-AB09-6D78-2F27-FA4F6A872479}"/>
              </a:ext>
            </a:extLst>
          </p:cNvPr>
          <p:cNvPicPr>
            <a:picLocks noChangeAspect="1"/>
          </p:cNvPicPr>
          <p:nvPr/>
        </p:nvPicPr>
        <p:blipFill>
          <a:blip r:embed="rId4"/>
          <a:stretch>
            <a:fillRect/>
          </a:stretch>
        </p:blipFill>
        <p:spPr>
          <a:xfrm>
            <a:off x="8844634" y="1574667"/>
            <a:ext cx="2997200" cy="1708887"/>
          </a:xfrm>
          <a:prstGeom prst="rect">
            <a:avLst/>
          </a:prstGeom>
        </p:spPr>
      </p:pic>
      <p:pic>
        <p:nvPicPr>
          <p:cNvPr id="25" name="Picture 24">
            <a:extLst>
              <a:ext uri="{FF2B5EF4-FFF2-40B4-BE49-F238E27FC236}">
                <a16:creationId xmlns:a16="http://schemas.microsoft.com/office/drawing/2014/main" id="{7112FED3-04D8-9E5D-5E1E-57AF4F7646C6}"/>
              </a:ext>
            </a:extLst>
          </p:cNvPr>
          <p:cNvPicPr>
            <a:picLocks noChangeAspect="1"/>
          </p:cNvPicPr>
          <p:nvPr/>
        </p:nvPicPr>
        <p:blipFill>
          <a:blip r:embed="rId5"/>
          <a:stretch>
            <a:fillRect/>
          </a:stretch>
        </p:blipFill>
        <p:spPr>
          <a:xfrm>
            <a:off x="762786" y="2906694"/>
            <a:ext cx="4343400" cy="1727200"/>
          </a:xfrm>
          <a:prstGeom prst="rect">
            <a:avLst/>
          </a:prstGeom>
        </p:spPr>
      </p:pic>
      <p:sp>
        <p:nvSpPr>
          <p:cNvPr id="26" name="Rounded Rectangle 25">
            <a:extLst>
              <a:ext uri="{FF2B5EF4-FFF2-40B4-BE49-F238E27FC236}">
                <a16:creationId xmlns:a16="http://schemas.microsoft.com/office/drawing/2014/main" id="{3A2B0E31-9029-4699-5650-485A0BACBB76}"/>
              </a:ext>
            </a:extLst>
          </p:cNvPr>
          <p:cNvSpPr/>
          <p:nvPr/>
        </p:nvSpPr>
        <p:spPr>
          <a:xfrm>
            <a:off x="4985886" y="3321520"/>
            <a:ext cx="7045693" cy="2747475"/>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rgbClr val="FF0000"/>
                </a:solidFill>
                <a:effectLst>
                  <a:outerShdw blurRad="38100" dist="19050" dir="2700000" algn="tl" rotWithShape="0">
                    <a:schemeClr val="dk1">
                      <a:alpha val="40000"/>
                    </a:schemeClr>
                  </a:outerShdw>
                </a:effectLst>
              </a:rPr>
              <a:t>Note: </a:t>
            </a:r>
            <a:r>
              <a:rPr lang="en-US" dirty="0">
                <a:ln w="0"/>
                <a:solidFill>
                  <a:schemeClr val="tx1"/>
                </a:solidFill>
                <a:effectLst>
                  <a:outerShdw blurRad="38100" dist="19050" dir="2700000" algn="tl" rotWithShape="0">
                    <a:schemeClr val="dk1">
                      <a:alpha val="40000"/>
                    </a:schemeClr>
                  </a:outerShdw>
                </a:effectLst>
              </a:rPr>
              <a:t>There are two thresholds typically used when looking at voxel-level results, the first at the voxel-level (height threshold, limiting which voxels are considered in the results ) and the second at the cluster-level (extent threshold, limiting which clusters are considered in the results). The values considered acceptable are a matter of convention, but typically you will find :</a:t>
            </a:r>
          </a:p>
          <a:p>
            <a:pPr marL="342900" indent="-342900" algn="ctr">
              <a:buAutoNum type="alphaLcParenR"/>
            </a:pPr>
            <a:r>
              <a:rPr lang="en-US" dirty="0">
                <a:ln w="0"/>
                <a:solidFill>
                  <a:schemeClr val="tx1"/>
                </a:solidFill>
                <a:effectLst>
                  <a:outerShdw blurRad="38100" dist="19050" dir="2700000" algn="tl" rotWithShape="0">
                    <a:schemeClr val="dk1">
                      <a:alpha val="40000"/>
                    </a:schemeClr>
                  </a:outerShdw>
                </a:effectLst>
              </a:rPr>
              <a:t>Height-threshold : either uncorrected p-values &lt;.001 or FDR- or FEW- corrected p-values&lt;.05</a:t>
            </a:r>
          </a:p>
          <a:p>
            <a:pPr algn="ctr"/>
            <a:r>
              <a:rPr lang="en-US" dirty="0">
                <a:ln w="0"/>
                <a:solidFill>
                  <a:schemeClr val="tx1"/>
                </a:solidFill>
                <a:effectLst>
                  <a:outerShdw blurRad="38100" dist="19050" dir="2700000" algn="tl" rotWithShape="0">
                    <a:schemeClr val="dk1">
                      <a:alpha val="40000"/>
                    </a:schemeClr>
                  </a:outerShdw>
                </a:effectLst>
              </a:rPr>
              <a:t>b) extent-threshold : FEW-corrected or FDR-corrected p-values&lt;.05</a:t>
            </a:r>
          </a:p>
        </p:txBody>
      </p:sp>
      <p:cxnSp>
        <p:nvCxnSpPr>
          <p:cNvPr id="27" name="Straight Connector 26">
            <a:extLst>
              <a:ext uri="{FF2B5EF4-FFF2-40B4-BE49-F238E27FC236}">
                <a16:creationId xmlns:a16="http://schemas.microsoft.com/office/drawing/2014/main" id="{069A37DD-8646-350B-9DC6-F83AE9A2F734}"/>
              </a:ext>
            </a:extLst>
          </p:cNvPr>
          <p:cNvCxnSpPr>
            <a:cxnSpLocks/>
          </p:cNvCxnSpPr>
          <p:nvPr/>
        </p:nvCxnSpPr>
        <p:spPr>
          <a:xfrm>
            <a:off x="0" y="6450676"/>
            <a:ext cx="4472246"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28" name="Straight Connector 27">
            <a:extLst>
              <a:ext uri="{FF2B5EF4-FFF2-40B4-BE49-F238E27FC236}">
                <a16:creationId xmlns:a16="http://schemas.microsoft.com/office/drawing/2014/main" id="{0C551DBA-980E-037D-FCC5-474602C3D4F1}"/>
              </a:ext>
            </a:extLst>
          </p:cNvPr>
          <p:cNvCxnSpPr>
            <a:cxnSpLocks/>
          </p:cNvCxnSpPr>
          <p:nvPr/>
        </p:nvCxnSpPr>
        <p:spPr>
          <a:xfrm>
            <a:off x="7912260" y="6450676"/>
            <a:ext cx="4279740" cy="0"/>
          </a:xfrm>
          <a:prstGeom prst="line">
            <a:avLst/>
          </a:prstGeom>
        </p:spPr>
        <p:style>
          <a:lnRef idx="2">
            <a:schemeClr val="accent4"/>
          </a:lnRef>
          <a:fillRef idx="0">
            <a:schemeClr val="accent4"/>
          </a:fillRef>
          <a:effectRef idx="1">
            <a:schemeClr val="accent4"/>
          </a:effectRef>
          <a:fontRef idx="minor">
            <a:schemeClr val="tx1"/>
          </a:fontRef>
        </p:style>
      </p:cxnSp>
      <p:sp>
        <p:nvSpPr>
          <p:cNvPr id="30" name="TextBox 29">
            <a:extLst>
              <a:ext uri="{FF2B5EF4-FFF2-40B4-BE49-F238E27FC236}">
                <a16:creationId xmlns:a16="http://schemas.microsoft.com/office/drawing/2014/main" id="{2A7D2485-0741-F231-72AC-91FF73110505}"/>
              </a:ext>
            </a:extLst>
          </p:cNvPr>
          <p:cNvSpPr txBox="1"/>
          <p:nvPr/>
        </p:nvSpPr>
        <p:spPr>
          <a:xfrm>
            <a:off x="4472246" y="6250621"/>
            <a:ext cx="3545598" cy="400110"/>
          </a:xfrm>
          <a:prstGeom prst="rect">
            <a:avLst/>
          </a:prstGeom>
          <a:noFill/>
        </p:spPr>
        <p:txBody>
          <a:bodyPr wrap="square">
            <a:spAutoFit/>
          </a:bodyPr>
          <a:lstStyle/>
          <a:p>
            <a:r>
              <a:rPr lang="en-US" sz="2000" dirty="0"/>
              <a:t>Interdisciplinary schools|2026</a:t>
            </a:r>
          </a:p>
        </p:txBody>
      </p:sp>
      <p:sp>
        <p:nvSpPr>
          <p:cNvPr id="32" name="Delay 31">
            <a:extLst>
              <a:ext uri="{FF2B5EF4-FFF2-40B4-BE49-F238E27FC236}">
                <a16:creationId xmlns:a16="http://schemas.microsoft.com/office/drawing/2014/main" id="{5676458A-FDC3-4B7C-46EE-4656805963BB}"/>
              </a:ext>
            </a:extLst>
          </p:cNvPr>
          <p:cNvSpPr/>
          <p:nvPr/>
        </p:nvSpPr>
        <p:spPr>
          <a:xfrm>
            <a:off x="-3127" y="365900"/>
            <a:ext cx="849394" cy="636504"/>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Tree>
    <p:extLst>
      <p:ext uri="{BB962C8B-B14F-4D97-AF65-F5344CB8AC3E}">
        <p14:creationId xmlns:p14="http://schemas.microsoft.com/office/powerpoint/2010/main" val="2213770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B2D48C-7E57-A123-0AE9-03D3096FE25D}"/>
              </a:ext>
            </a:extLst>
          </p:cNvPr>
          <p:cNvPicPr>
            <a:picLocks noChangeAspect="1"/>
          </p:cNvPicPr>
          <p:nvPr/>
        </p:nvPicPr>
        <p:blipFill>
          <a:blip r:embed="rId2"/>
          <a:stretch>
            <a:fillRect/>
          </a:stretch>
        </p:blipFill>
        <p:spPr>
          <a:xfrm>
            <a:off x="920047" y="42378"/>
            <a:ext cx="10351905" cy="6773243"/>
          </a:xfrm>
          <a:prstGeom prst="rect">
            <a:avLst/>
          </a:prstGeom>
        </p:spPr>
      </p:pic>
      <p:pic>
        <p:nvPicPr>
          <p:cNvPr id="4" name="Picture 3">
            <a:extLst>
              <a:ext uri="{FF2B5EF4-FFF2-40B4-BE49-F238E27FC236}">
                <a16:creationId xmlns:a16="http://schemas.microsoft.com/office/drawing/2014/main" id="{A1CE473B-284A-3AC3-5E2C-095882647523}"/>
              </a:ext>
            </a:extLst>
          </p:cNvPr>
          <p:cNvPicPr>
            <a:picLocks noChangeAspect="1"/>
          </p:cNvPicPr>
          <p:nvPr/>
        </p:nvPicPr>
        <p:blipFill>
          <a:blip r:embed="rId3"/>
          <a:stretch>
            <a:fillRect/>
          </a:stretch>
        </p:blipFill>
        <p:spPr>
          <a:xfrm>
            <a:off x="1572125" y="441292"/>
            <a:ext cx="8470231" cy="1540105"/>
          </a:xfrm>
          <a:prstGeom prst="rect">
            <a:avLst/>
          </a:prstGeom>
        </p:spPr>
      </p:pic>
      <p:pic>
        <p:nvPicPr>
          <p:cNvPr id="6" name="Picture 5">
            <a:extLst>
              <a:ext uri="{FF2B5EF4-FFF2-40B4-BE49-F238E27FC236}">
                <a16:creationId xmlns:a16="http://schemas.microsoft.com/office/drawing/2014/main" id="{6A94D33F-70A2-9BD0-8A3C-07401F6A99DE}"/>
              </a:ext>
            </a:extLst>
          </p:cNvPr>
          <p:cNvPicPr>
            <a:picLocks noChangeAspect="1"/>
          </p:cNvPicPr>
          <p:nvPr/>
        </p:nvPicPr>
        <p:blipFill>
          <a:blip r:embed="rId4"/>
          <a:stretch>
            <a:fillRect/>
          </a:stretch>
        </p:blipFill>
        <p:spPr>
          <a:xfrm>
            <a:off x="1572125" y="1976898"/>
            <a:ext cx="8582528" cy="1452101"/>
          </a:xfrm>
          <a:prstGeom prst="rect">
            <a:avLst/>
          </a:prstGeom>
        </p:spPr>
      </p:pic>
      <p:pic>
        <p:nvPicPr>
          <p:cNvPr id="8" name="Picture 7">
            <a:extLst>
              <a:ext uri="{FF2B5EF4-FFF2-40B4-BE49-F238E27FC236}">
                <a16:creationId xmlns:a16="http://schemas.microsoft.com/office/drawing/2014/main" id="{94749489-F991-620F-26FB-832B2ADFE9E6}"/>
              </a:ext>
            </a:extLst>
          </p:cNvPr>
          <p:cNvPicPr>
            <a:picLocks noChangeAspect="1"/>
          </p:cNvPicPr>
          <p:nvPr/>
        </p:nvPicPr>
        <p:blipFill>
          <a:blip r:embed="rId5"/>
          <a:stretch>
            <a:fillRect/>
          </a:stretch>
        </p:blipFill>
        <p:spPr>
          <a:xfrm>
            <a:off x="1572125" y="3593005"/>
            <a:ext cx="4927600" cy="27432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cxnSp>
        <p:nvCxnSpPr>
          <p:cNvPr id="9" name="Straight Connector 8">
            <a:extLst>
              <a:ext uri="{FF2B5EF4-FFF2-40B4-BE49-F238E27FC236}">
                <a16:creationId xmlns:a16="http://schemas.microsoft.com/office/drawing/2014/main" id="{6E112812-2A97-BDD2-D4ED-04A3C9BBC7D3}"/>
              </a:ext>
            </a:extLst>
          </p:cNvPr>
          <p:cNvCxnSpPr>
            <a:cxnSpLocks/>
          </p:cNvCxnSpPr>
          <p:nvPr/>
        </p:nvCxnSpPr>
        <p:spPr>
          <a:xfrm>
            <a:off x="0" y="6450676"/>
            <a:ext cx="4472246"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10" name="Straight Connector 9">
            <a:extLst>
              <a:ext uri="{FF2B5EF4-FFF2-40B4-BE49-F238E27FC236}">
                <a16:creationId xmlns:a16="http://schemas.microsoft.com/office/drawing/2014/main" id="{9D777FBD-EBC6-4566-12CE-47CC060C53FF}"/>
              </a:ext>
            </a:extLst>
          </p:cNvPr>
          <p:cNvCxnSpPr>
            <a:cxnSpLocks/>
          </p:cNvCxnSpPr>
          <p:nvPr/>
        </p:nvCxnSpPr>
        <p:spPr>
          <a:xfrm>
            <a:off x="7806233" y="6450676"/>
            <a:ext cx="4385767" cy="0"/>
          </a:xfrm>
          <a:prstGeom prst="line">
            <a:avLst/>
          </a:prstGeom>
        </p:spPr>
        <p:style>
          <a:lnRef idx="2">
            <a:schemeClr val="accent4"/>
          </a:lnRef>
          <a:fillRef idx="0">
            <a:schemeClr val="accent4"/>
          </a:fillRef>
          <a:effectRef idx="1">
            <a:schemeClr val="accent4"/>
          </a:effectRef>
          <a:fontRef idx="minor">
            <a:schemeClr val="tx1"/>
          </a:fontRef>
        </p:style>
      </p:cxnSp>
      <p:sp>
        <p:nvSpPr>
          <p:cNvPr id="12" name="TextBox 11">
            <a:extLst>
              <a:ext uri="{FF2B5EF4-FFF2-40B4-BE49-F238E27FC236}">
                <a16:creationId xmlns:a16="http://schemas.microsoft.com/office/drawing/2014/main" id="{0658D79A-6547-48DC-813E-7800D3CD9D9E}"/>
              </a:ext>
            </a:extLst>
          </p:cNvPr>
          <p:cNvSpPr txBox="1"/>
          <p:nvPr/>
        </p:nvSpPr>
        <p:spPr>
          <a:xfrm>
            <a:off x="4386387" y="6290616"/>
            <a:ext cx="3843213" cy="400110"/>
          </a:xfrm>
          <a:prstGeom prst="rect">
            <a:avLst/>
          </a:prstGeom>
          <a:noFill/>
        </p:spPr>
        <p:txBody>
          <a:bodyPr wrap="square">
            <a:spAutoFit/>
          </a:bodyPr>
          <a:lstStyle/>
          <a:p>
            <a:r>
              <a:rPr lang="en-US" sz="2000" dirty="0"/>
              <a:t>Interdisciplinary schools|2026</a:t>
            </a:r>
          </a:p>
        </p:txBody>
      </p:sp>
      <p:sp>
        <p:nvSpPr>
          <p:cNvPr id="14" name="Delay 13">
            <a:extLst>
              <a:ext uri="{FF2B5EF4-FFF2-40B4-BE49-F238E27FC236}">
                <a16:creationId xmlns:a16="http://schemas.microsoft.com/office/drawing/2014/main" id="{D868AB11-4C13-BBE2-7D4E-5E415CACEBCE}"/>
              </a:ext>
            </a:extLst>
          </p:cNvPr>
          <p:cNvSpPr/>
          <p:nvPr/>
        </p:nvSpPr>
        <p:spPr>
          <a:xfrm>
            <a:off x="-3127" y="365900"/>
            <a:ext cx="849394" cy="636504"/>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p>
        </p:txBody>
      </p:sp>
    </p:spTree>
    <p:extLst>
      <p:ext uri="{BB962C8B-B14F-4D97-AF65-F5344CB8AC3E}">
        <p14:creationId xmlns:p14="http://schemas.microsoft.com/office/powerpoint/2010/main" val="3583699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BB170BA-CF37-94B1-48DE-24F0FEA6B453}"/>
              </a:ext>
            </a:extLst>
          </p:cNvPr>
          <p:cNvPicPr>
            <a:picLocks noChangeAspect="1"/>
          </p:cNvPicPr>
          <p:nvPr/>
        </p:nvPicPr>
        <p:blipFill>
          <a:blip r:embed="rId2"/>
          <a:stretch>
            <a:fillRect/>
          </a:stretch>
        </p:blipFill>
        <p:spPr>
          <a:xfrm>
            <a:off x="920047" y="42378"/>
            <a:ext cx="10351905" cy="6773243"/>
          </a:xfrm>
          <a:prstGeom prst="rect">
            <a:avLst/>
          </a:prstGeom>
        </p:spPr>
      </p:pic>
      <p:sp>
        <p:nvSpPr>
          <p:cNvPr id="3" name="Rounded Rectangle 2">
            <a:extLst>
              <a:ext uri="{FF2B5EF4-FFF2-40B4-BE49-F238E27FC236}">
                <a16:creationId xmlns:a16="http://schemas.microsoft.com/office/drawing/2014/main" id="{0D7AD3A1-72B9-0F0F-B6C8-D7776C2AB46D}"/>
              </a:ext>
            </a:extLst>
          </p:cNvPr>
          <p:cNvSpPr/>
          <p:nvPr/>
        </p:nvSpPr>
        <p:spPr>
          <a:xfrm>
            <a:off x="3157087" y="365760"/>
            <a:ext cx="5534526" cy="693019"/>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Voxel-level   vs.   Cluster-level inferences </a:t>
            </a:r>
          </a:p>
        </p:txBody>
      </p:sp>
      <p:pic>
        <p:nvPicPr>
          <p:cNvPr id="5" name="Picture 4">
            <a:extLst>
              <a:ext uri="{FF2B5EF4-FFF2-40B4-BE49-F238E27FC236}">
                <a16:creationId xmlns:a16="http://schemas.microsoft.com/office/drawing/2014/main" id="{9672DBB2-E636-2433-93B3-556D7ECEB526}"/>
              </a:ext>
            </a:extLst>
          </p:cNvPr>
          <p:cNvPicPr>
            <a:picLocks noChangeAspect="1"/>
          </p:cNvPicPr>
          <p:nvPr/>
        </p:nvPicPr>
        <p:blipFill>
          <a:blip r:embed="rId3"/>
          <a:stretch>
            <a:fillRect/>
          </a:stretch>
        </p:blipFill>
        <p:spPr>
          <a:xfrm>
            <a:off x="640147" y="1180030"/>
            <a:ext cx="4621185" cy="1447666"/>
          </a:xfrm>
          <a:prstGeom prst="rect">
            <a:avLst/>
          </a:prstGeom>
        </p:spPr>
      </p:pic>
      <p:sp>
        <p:nvSpPr>
          <p:cNvPr id="6" name="Pentagon 5">
            <a:extLst>
              <a:ext uri="{FF2B5EF4-FFF2-40B4-BE49-F238E27FC236}">
                <a16:creationId xmlns:a16="http://schemas.microsoft.com/office/drawing/2014/main" id="{4D005652-ECA4-05BC-631A-7CF89BB95376}"/>
              </a:ext>
            </a:extLst>
          </p:cNvPr>
          <p:cNvSpPr/>
          <p:nvPr/>
        </p:nvSpPr>
        <p:spPr>
          <a:xfrm>
            <a:off x="5336084" y="1722923"/>
            <a:ext cx="1160968" cy="200191"/>
          </a:xfrm>
          <a:prstGeom prst="homePlat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8" name="Picture 7">
            <a:extLst>
              <a:ext uri="{FF2B5EF4-FFF2-40B4-BE49-F238E27FC236}">
                <a16:creationId xmlns:a16="http://schemas.microsoft.com/office/drawing/2014/main" id="{030F3919-F1F4-09CD-8B7B-FD1A512FF5CB}"/>
              </a:ext>
            </a:extLst>
          </p:cNvPr>
          <p:cNvPicPr>
            <a:picLocks noChangeAspect="1"/>
          </p:cNvPicPr>
          <p:nvPr/>
        </p:nvPicPr>
        <p:blipFill>
          <a:blip r:embed="rId4"/>
          <a:stretch>
            <a:fillRect/>
          </a:stretch>
        </p:blipFill>
        <p:spPr>
          <a:xfrm>
            <a:off x="6571804" y="1180030"/>
            <a:ext cx="4398805" cy="1447666"/>
          </a:xfrm>
          <a:prstGeom prst="rect">
            <a:avLst/>
          </a:prstGeom>
        </p:spPr>
      </p:pic>
      <p:pic>
        <p:nvPicPr>
          <p:cNvPr id="10" name="Picture 9">
            <a:extLst>
              <a:ext uri="{FF2B5EF4-FFF2-40B4-BE49-F238E27FC236}">
                <a16:creationId xmlns:a16="http://schemas.microsoft.com/office/drawing/2014/main" id="{9AE29BF5-D4C2-D731-7D8F-80B90F2C7F11}"/>
              </a:ext>
            </a:extLst>
          </p:cNvPr>
          <p:cNvPicPr>
            <a:picLocks noChangeAspect="1"/>
          </p:cNvPicPr>
          <p:nvPr/>
        </p:nvPicPr>
        <p:blipFill>
          <a:blip r:embed="rId5"/>
          <a:stretch>
            <a:fillRect/>
          </a:stretch>
        </p:blipFill>
        <p:spPr>
          <a:xfrm>
            <a:off x="1089258" y="2748947"/>
            <a:ext cx="3032453" cy="17919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2" name="Picture 11">
            <a:extLst>
              <a:ext uri="{FF2B5EF4-FFF2-40B4-BE49-F238E27FC236}">
                <a16:creationId xmlns:a16="http://schemas.microsoft.com/office/drawing/2014/main" id="{324E9ABE-2ABF-FF7B-31EA-0742DB9A36BF}"/>
              </a:ext>
            </a:extLst>
          </p:cNvPr>
          <p:cNvPicPr>
            <a:picLocks noChangeAspect="1"/>
          </p:cNvPicPr>
          <p:nvPr/>
        </p:nvPicPr>
        <p:blipFill>
          <a:blip r:embed="rId6"/>
          <a:stretch>
            <a:fillRect/>
          </a:stretch>
        </p:blipFill>
        <p:spPr>
          <a:xfrm>
            <a:off x="2407211" y="4540851"/>
            <a:ext cx="3429000" cy="18923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4" name="Picture 13">
            <a:extLst>
              <a:ext uri="{FF2B5EF4-FFF2-40B4-BE49-F238E27FC236}">
                <a16:creationId xmlns:a16="http://schemas.microsoft.com/office/drawing/2014/main" id="{807A557A-1099-1CFE-64D1-901DCA3A6A19}"/>
              </a:ext>
            </a:extLst>
          </p:cNvPr>
          <p:cNvPicPr>
            <a:picLocks noChangeAspect="1"/>
          </p:cNvPicPr>
          <p:nvPr/>
        </p:nvPicPr>
        <p:blipFill>
          <a:blip r:embed="rId7"/>
          <a:stretch>
            <a:fillRect/>
          </a:stretch>
        </p:blipFill>
        <p:spPr>
          <a:xfrm>
            <a:off x="4690110" y="2906962"/>
            <a:ext cx="1714500" cy="14351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5" name="Pentagon 14">
            <a:extLst>
              <a:ext uri="{FF2B5EF4-FFF2-40B4-BE49-F238E27FC236}">
                <a16:creationId xmlns:a16="http://schemas.microsoft.com/office/drawing/2014/main" id="{35DB0376-695B-0587-C773-42FECAA5486C}"/>
              </a:ext>
            </a:extLst>
          </p:cNvPr>
          <p:cNvSpPr/>
          <p:nvPr/>
        </p:nvSpPr>
        <p:spPr>
          <a:xfrm>
            <a:off x="6497052" y="3434412"/>
            <a:ext cx="974402" cy="215900"/>
          </a:xfrm>
          <a:prstGeom prst="homePlat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6" name="TextBox 15">
            <a:extLst>
              <a:ext uri="{FF2B5EF4-FFF2-40B4-BE49-F238E27FC236}">
                <a16:creationId xmlns:a16="http://schemas.microsoft.com/office/drawing/2014/main" id="{50ECB819-13E5-7BC4-9EFC-D88ECBC1A989}"/>
              </a:ext>
            </a:extLst>
          </p:cNvPr>
          <p:cNvSpPr txBox="1"/>
          <p:nvPr/>
        </p:nvSpPr>
        <p:spPr>
          <a:xfrm>
            <a:off x="6561935" y="2934378"/>
            <a:ext cx="822148" cy="461665"/>
          </a:xfrm>
          <a:prstGeom prst="rect">
            <a:avLst/>
          </a:prstGeom>
          <a:noFill/>
        </p:spPr>
        <p:txBody>
          <a:bodyPr wrap="none" rtlCol="0">
            <a:spAutoFit/>
          </a:bodyPr>
          <a:lstStyle/>
          <a:p>
            <a:r>
              <a:rPr lang="en-US" sz="1200" dirty="0"/>
              <a:t>“height”</a:t>
            </a:r>
          </a:p>
          <a:p>
            <a:r>
              <a:rPr lang="en-US" sz="1200" dirty="0"/>
              <a:t>threshold</a:t>
            </a:r>
          </a:p>
        </p:txBody>
      </p:sp>
      <p:pic>
        <p:nvPicPr>
          <p:cNvPr id="18" name="Picture 17">
            <a:extLst>
              <a:ext uri="{FF2B5EF4-FFF2-40B4-BE49-F238E27FC236}">
                <a16:creationId xmlns:a16="http://schemas.microsoft.com/office/drawing/2014/main" id="{CD93850A-7A71-251E-813F-141F83AC2929}"/>
              </a:ext>
            </a:extLst>
          </p:cNvPr>
          <p:cNvPicPr>
            <a:picLocks noChangeAspect="1"/>
          </p:cNvPicPr>
          <p:nvPr/>
        </p:nvPicPr>
        <p:blipFill>
          <a:blip r:embed="rId8"/>
          <a:stretch>
            <a:fillRect/>
          </a:stretch>
        </p:blipFill>
        <p:spPr>
          <a:xfrm>
            <a:off x="7513252" y="2748947"/>
            <a:ext cx="4038600" cy="26162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23" name="Group 22">
            <a:extLst>
              <a:ext uri="{FF2B5EF4-FFF2-40B4-BE49-F238E27FC236}">
                <a16:creationId xmlns:a16="http://schemas.microsoft.com/office/drawing/2014/main" id="{7D527435-1836-9167-3549-5F5DF9D74C74}"/>
              </a:ext>
            </a:extLst>
          </p:cNvPr>
          <p:cNvGrpSpPr/>
          <p:nvPr/>
        </p:nvGrpSpPr>
        <p:grpSpPr>
          <a:xfrm>
            <a:off x="7512916" y="3113735"/>
            <a:ext cx="91080" cy="446760"/>
            <a:chOff x="7512916" y="3113735"/>
            <a:chExt cx="91080" cy="446760"/>
          </a:xfrm>
        </p:grpSpPr>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65B61021-DCE0-485F-0B0E-286384D174CE}"/>
                    </a:ext>
                  </a:extLst>
                </p14:cNvPr>
                <p14:cNvContentPartPr/>
                <p14:nvPr/>
              </p14:nvContentPartPr>
              <p14:xfrm>
                <a:off x="7536316" y="3364295"/>
                <a:ext cx="67680" cy="196200"/>
              </p14:xfrm>
            </p:contentPart>
          </mc:Choice>
          <mc:Fallback xmlns="">
            <p:pic>
              <p:nvPicPr>
                <p:cNvPr id="19" name="Ink 18">
                  <a:extLst>
                    <a:ext uri="{FF2B5EF4-FFF2-40B4-BE49-F238E27FC236}">
                      <a16:creationId xmlns:a16="http://schemas.microsoft.com/office/drawing/2014/main" id="{65B61021-DCE0-485F-0B0E-286384D174CE}"/>
                    </a:ext>
                  </a:extLst>
                </p:cNvPr>
                <p:cNvPicPr/>
                <p:nvPr/>
              </p:nvPicPr>
              <p:blipFill>
                <a:blip r:embed="rId10"/>
                <a:stretch>
                  <a:fillRect/>
                </a:stretch>
              </p:blipFill>
              <p:spPr>
                <a:xfrm>
                  <a:off x="7530196" y="3358175"/>
                  <a:ext cx="7992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F3C95AD8-80BE-5EAD-CE0F-C0747E26EF19}"/>
                    </a:ext>
                  </a:extLst>
                </p14:cNvPr>
                <p14:cNvContentPartPr/>
                <p14:nvPr/>
              </p14:nvContentPartPr>
              <p14:xfrm>
                <a:off x="7528036" y="3367175"/>
                <a:ext cx="8640" cy="148680"/>
              </p14:xfrm>
            </p:contentPart>
          </mc:Choice>
          <mc:Fallback xmlns="">
            <p:pic>
              <p:nvPicPr>
                <p:cNvPr id="20" name="Ink 19">
                  <a:extLst>
                    <a:ext uri="{FF2B5EF4-FFF2-40B4-BE49-F238E27FC236}">
                      <a16:creationId xmlns:a16="http://schemas.microsoft.com/office/drawing/2014/main" id="{F3C95AD8-80BE-5EAD-CE0F-C0747E26EF19}"/>
                    </a:ext>
                  </a:extLst>
                </p:cNvPr>
                <p:cNvPicPr/>
                <p:nvPr/>
              </p:nvPicPr>
              <p:blipFill>
                <a:blip r:embed="rId12"/>
                <a:stretch>
                  <a:fillRect/>
                </a:stretch>
              </p:blipFill>
              <p:spPr>
                <a:xfrm>
                  <a:off x="7521916" y="3361055"/>
                  <a:ext cx="2088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1" name="Ink 20">
                  <a:extLst>
                    <a:ext uri="{FF2B5EF4-FFF2-40B4-BE49-F238E27FC236}">
                      <a16:creationId xmlns:a16="http://schemas.microsoft.com/office/drawing/2014/main" id="{7BFE7266-8139-5CBA-C89F-4B384A5CE97E}"/>
                    </a:ext>
                  </a:extLst>
                </p14:cNvPr>
                <p14:cNvContentPartPr/>
                <p14:nvPr/>
              </p14:nvContentPartPr>
              <p14:xfrm>
                <a:off x="7512916" y="3113735"/>
                <a:ext cx="50400" cy="381600"/>
              </p14:xfrm>
            </p:contentPart>
          </mc:Choice>
          <mc:Fallback xmlns="">
            <p:pic>
              <p:nvPicPr>
                <p:cNvPr id="21" name="Ink 20">
                  <a:extLst>
                    <a:ext uri="{FF2B5EF4-FFF2-40B4-BE49-F238E27FC236}">
                      <a16:creationId xmlns:a16="http://schemas.microsoft.com/office/drawing/2014/main" id="{7BFE7266-8139-5CBA-C89F-4B384A5CE97E}"/>
                    </a:ext>
                  </a:extLst>
                </p:cNvPr>
                <p:cNvPicPr/>
                <p:nvPr/>
              </p:nvPicPr>
              <p:blipFill>
                <a:blip r:embed="rId14"/>
                <a:stretch>
                  <a:fillRect/>
                </a:stretch>
              </p:blipFill>
              <p:spPr>
                <a:xfrm>
                  <a:off x="7506796" y="3107615"/>
                  <a:ext cx="62640" cy="393840"/>
                </a:xfrm>
                <a:prstGeom prst="rect">
                  <a:avLst/>
                </a:prstGeom>
              </p:spPr>
            </p:pic>
          </mc:Fallback>
        </mc:AlternateContent>
      </p:grpSp>
      <p:cxnSp>
        <p:nvCxnSpPr>
          <p:cNvPr id="24" name="Straight Connector 23">
            <a:extLst>
              <a:ext uri="{FF2B5EF4-FFF2-40B4-BE49-F238E27FC236}">
                <a16:creationId xmlns:a16="http://schemas.microsoft.com/office/drawing/2014/main" id="{254CCCE0-D395-5D17-CE0C-81A749770BC6}"/>
              </a:ext>
            </a:extLst>
          </p:cNvPr>
          <p:cNvCxnSpPr>
            <a:cxnSpLocks/>
          </p:cNvCxnSpPr>
          <p:nvPr/>
        </p:nvCxnSpPr>
        <p:spPr>
          <a:xfrm>
            <a:off x="8036282" y="6613831"/>
            <a:ext cx="4155718"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25" name="Straight Connector 24">
            <a:extLst>
              <a:ext uri="{FF2B5EF4-FFF2-40B4-BE49-F238E27FC236}">
                <a16:creationId xmlns:a16="http://schemas.microsoft.com/office/drawing/2014/main" id="{1C61C3C7-0198-D6F7-9AC1-8A01B0E4A0B3}"/>
              </a:ext>
            </a:extLst>
          </p:cNvPr>
          <p:cNvCxnSpPr>
            <a:cxnSpLocks/>
          </p:cNvCxnSpPr>
          <p:nvPr/>
        </p:nvCxnSpPr>
        <p:spPr>
          <a:xfrm>
            <a:off x="0" y="6603076"/>
            <a:ext cx="4624646" cy="0"/>
          </a:xfrm>
          <a:prstGeom prst="line">
            <a:avLst/>
          </a:prstGeom>
        </p:spPr>
        <p:style>
          <a:lnRef idx="2">
            <a:schemeClr val="accent4"/>
          </a:lnRef>
          <a:fillRef idx="0">
            <a:schemeClr val="accent4"/>
          </a:fillRef>
          <a:effectRef idx="1">
            <a:schemeClr val="accent4"/>
          </a:effectRef>
          <a:fontRef idx="minor">
            <a:schemeClr val="tx1"/>
          </a:fontRef>
        </p:style>
      </p:cxnSp>
      <p:sp>
        <p:nvSpPr>
          <p:cNvPr id="27" name="TextBox 26">
            <a:extLst>
              <a:ext uri="{FF2B5EF4-FFF2-40B4-BE49-F238E27FC236}">
                <a16:creationId xmlns:a16="http://schemas.microsoft.com/office/drawing/2014/main" id="{301795D2-A186-B9F4-846A-7C49DFE7D6AE}"/>
              </a:ext>
            </a:extLst>
          </p:cNvPr>
          <p:cNvSpPr txBox="1"/>
          <p:nvPr/>
        </p:nvSpPr>
        <p:spPr>
          <a:xfrm>
            <a:off x="4624646" y="6413776"/>
            <a:ext cx="4004243" cy="400110"/>
          </a:xfrm>
          <a:prstGeom prst="rect">
            <a:avLst/>
          </a:prstGeom>
          <a:noFill/>
        </p:spPr>
        <p:txBody>
          <a:bodyPr wrap="square">
            <a:spAutoFit/>
          </a:bodyPr>
          <a:lstStyle/>
          <a:p>
            <a:r>
              <a:rPr lang="en-US" sz="2000" dirty="0"/>
              <a:t>Interdisciplinary schools|2026</a:t>
            </a:r>
          </a:p>
        </p:txBody>
      </p:sp>
      <p:sp>
        <p:nvSpPr>
          <p:cNvPr id="30" name="Delay 29">
            <a:extLst>
              <a:ext uri="{FF2B5EF4-FFF2-40B4-BE49-F238E27FC236}">
                <a16:creationId xmlns:a16="http://schemas.microsoft.com/office/drawing/2014/main" id="{E45D2726-E112-5E94-CD14-44303442A004}"/>
              </a:ext>
            </a:extLst>
          </p:cNvPr>
          <p:cNvSpPr/>
          <p:nvPr/>
        </p:nvSpPr>
        <p:spPr>
          <a:xfrm>
            <a:off x="-3127" y="365900"/>
            <a:ext cx="849394" cy="636504"/>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a:t>
            </a:r>
          </a:p>
        </p:txBody>
      </p:sp>
    </p:spTree>
    <p:extLst>
      <p:ext uri="{BB962C8B-B14F-4D97-AF65-F5344CB8AC3E}">
        <p14:creationId xmlns:p14="http://schemas.microsoft.com/office/powerpoint/2010/main" val="859988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5EEF0CD-A65D-ECC6-B170-9EDE30FEAF4A}"/>
              </a:ext>
            </a:extLst>
          </p:cNvPr>
          <p:cNvPicPr>
            <a:picLocks noChangeAspect="1"/>
          </p:cNvPicPr>
          <p:nvPr/>
        </p:nvPicPr>
        <p:blipFill>
          <a:blip r:embed="rId2"/>
          <a:stretch>
            <a:fillRect/>
          </a:stretch>
        </p:blipFill>
        <p:spPr>
          <a:xfrm>
            <a:off x="993828" y="84757"/>
            <a:ext cx="10351905" cy="6773243"/>
          </a:xfrm>
          <a:prstGeom prst="rect">
            <a:avLst/>
          </a:prstGeom>
        </p:spPr>
      </p:pic>
      <p:sp>
        <p:nvSpPr>
          <p:cNvPr id="3" name="Rounded Rectangle 2">
            <a:extLst>
              <a:ext uri="{FF2B5EF4-FFF2-40B4-BE49-F238E27FC236}">
                <a16:creationId xmlns:a16="http://schemas.microsoft.com/office/drawing/2014/main" id="{D767A1A2-D4A6-855D-97AA-110E28AE02F1}"/>
              </a:ext>
            </a:extLst>
          </p:cNvPr>
          <p:cNvSpPr/>
          <p:nvPr/>
        </p:nvSpPr>
        <p:spPr>
          <a:xfrm>
            <a:off x="1764631" y="1617044"/>
            <a:ext cx="8662737" cy="2608446"/>
          </a:xfrm>
          <a:prstGeom prst="roundRect">
            <a:avLst/>
          </a:prstGeom>
          <a:solidFill>
            <a:schemeClr val="bg1">
              <a:lumMod val="8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A rule of thumb is to use more conservative height thresholds(e.g. </a:t>
            </a:r>
            <a:r>
              <a:rPr lang="en-US">
                <a:solidFill>
                  <a:srgbClr val="FF0000"/>
                </a:solidFill>
              </a:rPr>
              <a:t>FDR-or FWE-corrected </a:t>
            </a:r>
            <a:r>
              <a:rPr lang="en-US" dirty="0">
                <a:solidFill>
                  <a:srgbClr val="FF0000"/>
                </a:solidFill>
              </a:rPr>
              <a:t>p-values &lt;.05) when the expected effects are focal(i.e. strong effects over small areas), while using more liberal height threshold (e.g. uncorrected p-value &lt;.001 or higher ) when the expected effects are broad but weak .</a:t>
            </a:r>
          </a:p>
        </p:txBody>
      </p:sp>
      <p:cxnSp>
        <p:nvCxnSpPr>
          <p:cNvPr id="4" name="Straight Connector 3">
            <a:extLst>
              <a:ext uri="{FF2B5EF4-FFF2-40B4-BE49-F238E27FC236}">
                <a16:creationId xmlns:a16="http://schemas.microsoft.com/office/drawing/2014/main" id="{6E89A468-FEA4-C9DF-6D03-552BFF705F1F}"/>
              </a:ext>
            </a:extLst>
          </p:cNvPr>
          <p:cNvCxnSpPr>
            <a:cxnSpLocks/>
          </p:cNvCxnSpPr>
          <p:nvPr/>
        </p:nvCxnSpPr>
        <p:spPr>
          <a:xfrm>
            <a:off x="0" y="6603076"/>
            <a:ext cx="4624646"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5" name="Straight Connector 4">
            <a:extLst>
              <a:ext uri="{FF2B5EF4-FFF2-40B4-BE49-F238E27FC236}">
                <a16:creationId xmlns:a16="http://schemas.microsoft.com/office/drawing/2014/main" id="{C94807B6-836D-A83C-E735-3CE45586146B}"/>
              </a:ext>
            </a:extLst>
          </p:cNvPr>
          <p:cNvCxnSpPr>
            <a:cxnSpLocks/>
          </p:cNvCxnSpPr>
          <p:nvPr/>
        </p:nvCxnSpPr>
        <p:spPr>
          <a:xfrm>
            <a:off x="8025865" y="6603076"/>
            <a:ext cx="4166135" cy="0"/>
          </a:xfrm>
          <a:prstGeom prst="line">
            <a:avLst/>
          </a:prstGeom>
        </p:spPr>
        <p:style>
          <a:lnRef idx="2">
            <a:schemeClr val="accent4"/>
          </a:lnRef>
          <a:fillRef idx="0">
            <a:schemeClr val="accent4"/>
          </a:fillRef>
          <a:effectRef idx="1">
            <a:schemeClr val="accent4"/>
          </a:effectRef>
          <a:fontRef idx="minor">
            <a:schemeClr val="tx1"/>
          </a:fontRef>
        </p:style>
      </p:cxnSp>
      <p:sp>
        <p:nvSpPr>
          <p:cNvPr id="7" name="TextBox 6">
            <a:extLst>
              <a:ext uri="{FF2B5EF4-FFF2-40B4-BE49-F238E27FC236}">
                <a16:creationId xmlns:a16="http://schemas.microsoft.com/office/drawing/2014/main" id="{7BDEF607-4B78-E755-470B-61606FC7CCD9}"/>
              </a:ext>
            </a:extLst>
          </p:cNvPr>
          <p:cNvSpPr txBox="1"/>
          <p:nvPr/>
        </p:nvSpPr>
        <p:spPr>
          <a:xfrm>
            <a:off x="4624646" y="6373133"/>
            <a:ext cx="3489451" cy="400110"/>
          </a:xfrm>
          <a:prstGeom prst="rect">
            <a:avLst/>
          </a:prstGeom>
          <a:noFill/>
        </p:spPr>
        <p:txBody>
          <a:bodyPr wrap="square">
            <a:spAutoFit/>
          </a:bodyPr>
          <a:lstStyle/>
          <a:p>
            <a:r>
              <a:rPr lang="en-US" sz="2000" dirty="0"/>
              <a:t>Interdisciplinary schools|2026</a:t>
            </a:r>
          </a:p>
        </p:txBody>
      </p:sp>
      <p:sp>
        <p:nvSpPr>
          <p:cNvPr id="11" name="Delay 10">
            <a:extLst>
              <a:ext uri="{FF2B5EF4-FFF2-40B4-BE49-F238E27FC236}">
                <a16:creationId xmlns:a16="http://schemas.microsoft.com/office/drawing/2014/main" id="{B154739F-2837-2A44-B9D1-816CA14E73D3}"/>
              </a:ext>
            </a:extLst>
          </p:cNvPr>
          <p:cNvSpPr/>
          <p:nvPr/>
        </p:nvSpPr>
        <p:spPr>
          <a:xfrm>
            <a:off x="-3127" y="365900"/>
            <a:ext cx="849394" cy="636504"/>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E3E19C32-ABD6-82C7-D06A-2A243E851CC1}"/>
                  </a:ext>
                </a:extLst>
              </p14:cNvPr>
              <p14:cNvContentPartPr/>
              <p14:nvPr/>
            </p14:nvContentPartPr>
            <p14:xfrm>
              <a:off x="9849676" y="2475417"/>
              <a:ext cx="360" cy="360"/>
            </p14:xfrm>
          </p:contentPart>
        </mc:Choice>
        <mc:Fallback xmlns="">
          <p:pic>
            <p:nvPicPr>
              <p:cNvPr id="12" name="Ink 11">
                <a:extLst>
                  <a:ext uri="{FF2B5EF4-FFF2-40B4-BE49-F238E27FC236}">
                    <a16:creationId xmlns:a16="http://schemas.microsoft.com/office/drawing/2014/main" id="{E3E19C32-ABD6-82C7-D06A-2A243E851CC1}"/>
                  </a:ext>
                </a:extLst>
              </p:cNvPr>
              <p:cNvPicPr/>
              <p:nvPr/>
            </p:nvPicPr>
            <p:blipFill>
              <a:blip r:embed="rId4"/>
              <a:stretch>
                <a:fillRect/>
              </a:stretch>
            </p:blipFill>
            <p:spPr>
              <a:xfrm>
                <a:off x="9843556" y="2469297"/>
                <a:ext cx="12600" cy="12600"/>
              </a:xfrm>
              <a:prstGeom prst="rect">
                <a:avLst/>
              </a:prstGeom>
            </p:spPr>
          </p:pic>
        </mc:Fallback>
      </mc:AlternateContent>
    </p:spTree>
    <p:extLst>
      <p:ext uri="{BB962C8B-B14F-4D97-AF65-F5344CB8AC3E}">
        <p14:creationId xmlns:p14="http://schemas.microsoft.com/office/powerpoint/2010/main" val="3674853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C203B14-ABD6-118E-8FB4-31EA607FE8C4}"/>
              </a:ext>
            </a:extLst>
          </p:cNvPr>
          <p:cNvPicPr>
            <a:picLocks noChangeAspect="1"/>
          </p:cNvPicPr>
          <p:nvPr/>
        </p:nvPicPr>
        <p:blipFill>
          <a:blip r:embed="rId2"/>
          <a:stretch>
            <a:fillRect/>
          </a:stretch>
        </p:blipFill>
        <p:spPr>
          <a:xfrm>
            <a:off x="993828" y="84757"/>
            <a:ext cx="10351905" cy="6773243"/>
          </a:xfrm>
          <a:prstGeom prst="rect">
            <a:avLst/>
          </a:prstGeom>
        </p:spPr>
      </p:pic>
      <p:sp>
        <p:nvSpPr>
          <p:cNvPr id="3" name="Rounded Rectangle 2">
            <a:extLst>
              <a:ext uri="{FF2B5EF4-FFF2-40B4-BE49-F238E27FC236}">
                <a16:creationId xmlns:a16="http://schemas.microsoft.com/office/drawing/2014/main" id="{461407CB-AC2E-7F69-5372-5532BF331846}"/>
              </a:ext>
            </a:extLst>
          </p:cNvPr>
          <p:cNvSpPr/>
          <p:nvPr/>
        </p:nvSpPr>
        <p:spPr>
          <a:xfrm>
            <a:off x="4004109" y="269508"/>
            <a:ext cx="3734602" cy="375385"/>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r>
              <a:rPr lang="en-US" dirty="0">
                <a:ln w="0"/>
                <a:solidFill>
                  <a:schemeClr val="tx1"/>
                </a:solidFill>
                <a:effectLst>
                  <a:outerShdw blurRad="38100" dist="19050" dir="2700000" algn="tl" rotWithShape="0">
                    <a:schemeClr val="dk1">
                      <a:alpha val="40000"/>
                    </a:schemeClr>
                  </a:outerShdw>
                </a:effectLst>
              </a:rPr>
              <a:t>Graph Based Measures</a:t>
            </a:r>
          </a:p>
        </p:txBody>
      </p:sp>
      <p:sp>
        <p:nvSpPr>
          <p:cNvPr id="4" name="Rounded Rectangle 3">
            <a:extLst>
              <a:ext uri="{FF2B5EF4-FFF2-40B4-BE49-F238E27FC236}">
                <a16:creationId xmlns:a16="http://schemas.microsoft.com/office/drawing/2014/main" id="{B36C6F34-0F4A-6639-3364-EC46053EF59E}"/>
              </a:ext>
            </a:extLst>
          </p:cNvPr>
          <p:cNvSpPr/>
          <p:nvPr/>
        </p:nvSpPr>
        <p:spPr>
          <a:xfrm>
            <a:off x="558265" y="866274"/>
            <a:ext cx="11367436" cy="635267"/>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Concepts : Brain = a complex network, Nodes(ROIs)= brain regions, Edges = functional connectivity between ROIs </a:t>
            </a:r>
            <a:endParaRPr lang="en-US" dirty="0"/>
          </a:p>
        </p:txBody>
      </p:sp>
      <p:pic>
        <p:nvPicPr>
          <p:cNvPr id="6" name="Picture 5">
            <a:extLst>
              <a:ext uri="{FF2B5EF4-FFF2-40B4-BE49-F238E27FC236}">
                <a16:creationId xmlns:a16="http://schemas.microsoft.com/office/drawing/2014/main" id="{BFC134F1-C2C0-3077-9B32-C68A3ECE20BC}"/>
              </a:ext>
            </a:extLst>
          </p:cNvPr>
          <p:cNvPicPr>
            <a:picLocks noChangeAspect="1"/>
          </p:cNvPicPr>
          <p:nvPr/>
        </p:nvPicPr>
        <p:blipFill>
          <a:blip r:embed="rId3"/>
          <a:stretch>
            <a:fillRect/>
          </a:stretch>
        </p:blipFill>
        <p:spPr>
          <a:xfrm>
            <a:off x="672499" y="1722922"/>
            <a:ext cx="3331610" cy="2067404"/>
          </a:xfrm>
          <a:prstGeom prst="rect">
            <a:avLst/>
          </a:prstGeom>
        </p:spPr>
      </p:pic>
      <p:pic>
        <p:nvPicPr>
          <p:cNvPr id="8" name="Picture 7">
            <a:extLst>
              <a:ext uri="{FF2B5EF4-FFF2-40B4-BE49-F238E27FC236}">
                <a16:creationId xmlns:a16="http://schemas.microsoft.com/office/drawing/2014/main" id="{8397E789-21C8-3906-CC88-48CEFA87ABEC}"/>
              </a:ext>
            </a:extLst>
          </p:cNvPr>
          <p:cNvPicPr>
            <a:picLocks noChangeAspect="1"/>
          </p:cNvPicPr>
          <p:nvPr/>
        </p:nvPicPr>
        <p:blipFill>
          <a:blip r:embed="rId4"/>
          <a:stretch>
            <a:fillRect/>
          </a:stretch>
        </p:blipFill>
        <p:spPr>
          <a:xfrm>
            <a:off x="4004109" y="1650502"/>
            <a:ext cx="2447624" cy="2798307"/>
          </a:xfrm>
          <a:prstGeom prst="rect">
            <a:avLst/>
          </a:prstGeom>
        </p:spPr>
      </p:pic>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B5EF4BAD-5810-FA47-DC9D-A2D224904AD7}"/>
                  </a:ext>
                </a:extLst>
              </p14:cNvPr>
              <p14:cNvContentPartPr/>
              <p14:nvPr/>
            </p14:nvContentPartPr>
            <p14:xfrm>
              <a:off x="6334276" y="2203105"/>
              <a:ext cx="23040" cy="678240"/>
            </p14:xfrm>
          </p:contentPart>
        </mc:Choice>
        <mc:Fallback xmlns="">
          <p:pic>
            <p:nvPicPr>
              <p:cNvPr id="13" name="Ink 12">
                <a:extLst>
                  <a:ext uri="{FF2B5EF4-FFF2-40B4-BE49-F238E27FC236}">
                    <a16:creationId xmlns:a16="http://schemas.microsoft.com/office/drawing/2014/main" id="{B5EF4BAD-5810-FA47-DC9D-A2D224904AD7}"/>
                  </a:ext>
                </a:extLst>
              </p:cNvPr>
              <p:cNvPicPr/>
              <p:nvPr/>
            </p:nvPicPr>
            <p:blipFill>
              <a:blip r:embed="rId6"/>
              <a:stretch>
                <a:fillRect/>
              </a:stretch>
            </p:blipFill>
            <p:spPr>
              <a:xfrm>
                <a:off x="6271276" y="2140465"/>
                <a:ext cx="148680" cy="803880"/>
              </a:xfrm>
              <a:prstGeom prst="rect">
                <a:avLst/>
              </a:prstGeom>
            </p:spPr>
          </p:pic>
        </mc:Fallback>
      </mc:AlternateContent>
      <p:grpSp>
        <p:nvGrpSpPr>
          <p:cNvPr id="18" name="Group 17">
            <a:extLst>
              <a:ext uri="{FF2B5EF4-FFF2-40B4-BE49-F238E27FC236}">
                <a16:creationId xmlns:a16="http://schemas.microsoft.com/office/drawing/2014/main" id="{18335B92-4AB1-D894-344F-7D9A885C4454}"/>
              </a:ext>
            </a:extLst>
          </p:cNvPr>
          <p:cNvGrpSpPr/>
          <p:nvPr/>
        </p:nvGrpSpPr>
        <p:grpSpPr>
          <a:xfrm>
            <a:off x="6275956" y="1785145"/>
            <a:ext cx="149040" cy="1105920"/>
            <a:chOff x="6275956" y="1785145"/>
            <a:chExt cx="149040" cy="1105920"/>
          </a:xfrm>
        </p:grpSpPr>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C6DD4D11-8F65-C03C-6E85-2D52B9E1BC0D}"/>
                    </a:ext>
                  </a:extLst>
                </p14:cNvPr>
                <p14:cNvContentPartPr/>
                <p14:nvPr/>
              </p14:nvContentPartPr>
              <p14:xfrm>
                <a:off x="6275956" y="1843825"/>
                <a:ext cx="75240" cy="1015560"/>
              </p14:xfrm>
            </p:contentPart>
          </mc:Choice>
          <mc:Fallback xmlns="">
            <p:pic>
              <p:nvPicPr>
                <p:cNvPr id="9" name="Ink 8">
                  <a:extLst>
                    <a:ext uri="{FF2B5EF4-FFF2-40B4-BE49-F238E27FC236}">
                      <a16:creationId xmlns:a16="http://schemas.microsoft.com/office/drawing/2014/main" id="{C6DD4D11-8F65-C03C-6E85-2D52B9E1BC0D}"/>
                    </a:ext>
                  </a:extLst>
                </p:cNvPr>
                <p:cNvPicPr/>
                <p:nvPr/>
              </p:nvPicPr>
              <p:blipFill>
                <a:blip r:embed="rId8"/>
                <a:stretch>
                  <a:fillRect/>
                </a:stretch>
              </p:blipFill>
              <p:spPr>
                <a:xfrm>
                  <a:off x="6212956" y="1780825"/>
                  <a:ext cx="200880" cy="1141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C3E5197A-2BD3-4512-2CCE-60D725CDF58A}"/>
                    </a:ext>
                  </a:extLst>
                </p14:cNvPr>
                <p14:cNvContentPartPr/>
                <p14:nvPr/>
              </p14:nvContentPartPr>
              <p14:xfrm>
                <a:off x="6302596" y="1848865"/>
                <a:ext cx="41040" cy="478080"/>
              </p14:xfrm>
            </p:contentPart>
          </mc:Choice>
          <mc:Fallback xmlns="">
            <p:pic>
              <p:nvPicPr>
                <p:cNvPr id="10" name="Ink 9">
                  <a:extLst>
                    <a:ext uri="{FF2B5EF4-FFF2-40B4-BE49-F238E27FC236}">
                      <a16:creationId xmlns:a16="http://schemas.microsoft.com/office/drawing/2014/main" id="{C3E5197A-2BD3-4512-2CCE-60D725CDF58A}"/>
                    </a:ext>
                  </a:extLst>
                </p:cNvPr>
                <p:cNvPicPr/>
                <p:nvPr/>
              </p:nvPicPr>
              <p:blipFill>
                <a:blip r:embed="rId10"/>
                <a:stretch>
                  <a:fillRect/>
                </a:stretch>
              </p:blipFill>
              <p:spPr>
                <a:xfrm>
                  <a:off x="6239956" y="1786225"/>
                  <a:ext cx="166680" cy="603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34DF2E69-0313-5772-5505-4C8C2FBB2EC2}"/>
                    </a:ext>
                  </a:extLst>
                </p14:cNvPr>
                <p14:cNvContentPartPr/>
                <p14:nvPr/>
              </p14:nvContentPartPr>
              <p14:xfrm>
                <a:off x="6298996" y="1785145"/>
                <a:ext cx="126000" cy="1105920"/>
              </p14:xfrm>
            </p:contentPart>
          </mc:Choice>
          <mc:Fallback xmlns="">
            <p:pic>
              <p:nvPicPr>
                <p:cNvPr id="16" name="Ink 15">
                  <a:extLst>
                    <a:ext uri="{FF2B5EF4-FFF2-40B4-BE49-F238E27FC236}">
                      <a16:creationId xmlns:a16="http://schemas.microsoft.com/office/drawing/2014/main" id="{34DF2E69-0313-5772-5505-4C8C2FBB2EC2}"/>
                    </a:ext>
                  </a:extLst>
                </p:cNvPr>
                <p:cNvPicPr/>
                <p:nvPr/>
              </p:nvPicPr>
              <p:blipFill>
                <a:blip r:embed="rId12"/>
                <a:stretch>
                  <a:fillRect/>
                </a:stretch>
              </p:blipFill>
              <p:spPr>
                <a:xfrm>
                  <a:off x="6235996" y="1722505"/>
                  <a:ext cx="251640" cy="1231560"/>
                </a:xfrm>
                <a:prstGeom prst="rect">
                  <a:avLst/>
                </a:prstGeom>
              </p:spPr>
            </p:pic>
          </mc:Fallback>
        </mc:AlternateContent>
      </p:grpSp>
      <p:pic>
        <p:nvPicPr>
          <p:cNvPr id="20" name="Picture 19">
            <a:extLst>
              <a:ext uri="{FF2B5EF4-FFF2-40B4-BE49-F238E27FC236}">
                <a16:creationId xmlns:a16="http://schemas.microsoft.com/office/drawing/2014/main" id="{459C6011-98A6-A105-6150-BBD2BFE77928}"/>
              </a:ext>
            </a:extLst>
          </p:cNvPr>
          <p:cNvPicPr>
            <a:picLocks noChangeAspect="1"/>
          </p:cNvPicPr>
          <p:nvPr/>
        </p:nvPicPr>
        <p:blipFill>
          <a:blip r:embed="rId13"/>
          <a:stretch>
            <a:fillRect/>
          </a:stretch>
        </p:blipFill>
        <p:spPr>
          <a:xfrm>
            <a:off x="6424996" y="1650502"/>
            <a:ext cx="3732778" cy="1478876"/>
          </a:xfrm>
          <a:prstGeom prst="rect">
            <a:avLst/>
          </a:prstGeom>
        </p:spPr>
      </p:pic>
      <p:sp>
        <p:nvSpPr>
          <p:cNvPr id="21" name="Bent Arrow 20">
            <a:extLst>
              <a:ext uri="{FF2B5EF4-FFF2-40B4-BE49-F238E27FC236}">
                <a16:creationId xmlns:a16="http://schemas.microsoft.com/office/drawing/2014/main" id="{7CA64943-6B8C-9FEC-6661-57B4FFD03AD9}"/>
              </a:ext>
            </a:extLst>
          </p:cNvPr>
          <p:cNvSpPr/>
          <p:nvPr/>
        </p:nvSpPr>
        <p:spPr>
          <a:xfrm rot="5400000">
            <a:off x="10142175" y="2366493"/>
            <a:ext cx="902322" cy="581629"/>
          </a:xfrm>
          <a:prstGeom prst="ben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spc="50">
              <a:ln w="9525" cmpd="sng">
                <a:solidFill>
                  <a:srgbClr val="FF0000"/>
                </a:solidFill>
                <a:prstDash val="solid"/>
              </a:ln>
              <a:solidFill>
                <a:srgbClr val="70AD47">
                  <a:tint val="1000"/>
                </a:srgbClr>
              </a:solidFill>
              <a:effectLst>
                <a:glow rad="38100">
                  <a:schemeClr val="accent1">
                    <a:alpha val="40000"/>
                  </a:schemeClr>
                </a:glow>
              </a:effectLst>
            </a:endParaRPr>
          </a:p>
        </p:txBody>
      </p:sp>
      <p:pic>
        <p:nvPicPr>
          <p:cNvPr id="23" name="Picture 22">
            <a:extLst>
              <a:ext uri="{FF2B5EF4-FFF2-40B4-BE49-F238E27FC236}">
                <a16:creationId xmlns:a16="http://schemas.microsoft.com/office/drawing/2014/main" id="{E0155D96-BFF7-35EF-4318-00E92EC97C35}"/>
              </a:ext>
            </a:extLst>
          </p:cNvPr>
          <p:cNvPicPr>
            <a:picLocks noChangeAspect="1"/>
          </p:cNvPicPr>
          <p:nvPr/>
        </p:nvPicPr>
        <p:blipFill>
          <a:blip r:embed="rId14"/>
          <a:stretch>
            <a:fillRect/>
          </a:stretch>
        </p:blipFill>
        <p:spPr>
          <a:xfrm>
            <a:off x="9737981" y="3165626"/>
            <a:ext cx="2187720" cy="2041872"/>
          </a:xfrm>
          <a:prstGeom prst="rect">
            <a:avLst/>
          </a:prstGeom>
        </p:spPr>
      </p:pic>
      <mc:AlternateContent xmlns:mc="http://schemas.openxmlformats.org/markup-compatibility/2006" xmlns:p14="http://schemas.microsoft.com/office/powerpoint/2010/main">
        <mc:Choice Requires="p14">
          <p:contentPart p14:bwMode="auto" r:id="rId15">
            <p14:nvContentPartPr>
              <p14:cNvPr id="24" name="Ink 23">
                <a:extLst>
                  <a:ext uri="{FF2B5EF4-FFF2-40B4-BE49-F238E27FC236}">
                    <a16:creationId xmlns:a16="http://schemas.microsoft.com/office/drawing/2014/main" id="{4B1EB95A-9EFF-1D35-B695-61E33A851C44}"/>
                  </a:ext>
                </a:extLst>
              </p14:cNvPr>
              <p14:cNvContentPartPr/>
              <p14:nvPr/>
            </p14:nvContentPartPr>
            <p14:xfrm>
              <a:off x="9816556" y="3832825"/>
              <a:ext cx="41760" cy="352440"/>
            </p14:xfrm>
          </p:contentPart>
        </mc:Choice>
        <mc:Fallback xmlns="">
          <p:pic>
            <p:nvPicPr>
              <p:cNvPr id="24" name="Ink 23">
                <a:extLst>
                  <a:ext uri="{FF2B5EF4-FFF2-40B4-BE49-F238E27FC236}">
                    <a16:creationId xmlns:a16="http://schemas.microsoft.com/office/drawing/2014/main" id="{4B1EB95A-9EFF-1D35-B695-61E33A851C44}"/>
                  </a:ext>
                </a:extLst>
              </p:cNvPr>
              <p:cNvPicPr/>
              <p:nvPr/>
            </p:nvPicPr>
            <p:blipFill>
              <a:blip r:embed="rId16"/>
              <a:stretch>
                <a:fillRect/>
              </a:stretch>
            </p:blipFill>
            <p:spPr>
              <a:xfrm>
                <a:off x="9753916" y="3769825"/>
                <a:ext cx="167400" cy="478080"/>
              </a:xfrm>
              <a:prstGeom prst="rect">
                <a:avLst/>
              </a:prstGeom>
            </p:spPr>
          </p:pic>
        </mc:Fallback>
      </mc:AlternateContent>
      <p:pic>
        <p:nvPicPr>
          <p:cNvPr id="26" name="Picture 25">
            <a:extLst>
              <a:ext uri="{FF2B5EF4-FFF2-40B4-BE49-F238E27FC236}">
                <a16:creationId xmlns:a16="http://schemas.microsoft.com/office/drawing/2014/main" id="{FD24D202-7AB7-3BDE-F02C-5D573DDB243F}"/>
              </a:ext>
            </a:extLst>
          </p:cNvPr>
          <p:cNvPicPr>
            <a:picLocks noChangeAspect="1"/>
          </p:cNvPicPr>
          <p:nvPr/>
        </p:nvPicPr>
        <p:blipFill>
          <a:blip r:embed="rId17"/>
          <a:stretch>
            <a:fillRect/>
          </a:stretch>
        </p:blipFill>
        <p:spPr>
          <a:xfrm>
            <a:off x="6467094" y="3480323"/>
            <a:ext cx="2022387" cy="1513365"/>
          </a:xfrm>
          <a:prstGeom prst="rect">
            <a:avLst/>
          </a:prstGeom>
        </p:spPr>
      </p:pic>
      <p:sp>
        <p:nvSpPr>
          <p:cNvPr id="27" name="Left-Right Arrow 26">
            <a:extLst>
              <a:ext uri="{FF2B5EF4-FFF2-40B4-BE49-F238E27FC236}">
                <a16:creationId xmlns:a16="http://schemas.microsoft.com/office/drawing/2014/main" id="{E8829457-FA16-91DE-7BD1-B62D5B2B8B17}"/>
              </a:ext>
            </a:extLst>
          </p:cNvPr>
          <p:cNvSpPr/>
          <p:nvPr/>
        </p:nvSpPr>
        <p:spPr>
          <a:xfrm>
            <a:off x="8749364" y="4009045"/>
            <a:ext cx="988617" cy="250256"/>
          </a:xfrm>
          <a:prstGeom prst="lef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rgbClr val="FF0000"/>
              </a:solidFill>
            </a:endParaRPr>
          </a:p>
        </p:txBody>
      </p:sp>
      <p:sp>
        <p:nvSpPr>
          <p:cNvPr id="28" name="Rounded Rectangle 27">
            <a:extLst>
              <a:ext uri="{FF2B5EF4-FFF2-40B4-BE49-F238E27FC236}">
                <a16:creationId xmlns:a16="http://schemas.microsoft.com/office/drawing/2014/main" id="{8E4015A7-F9CF-F28A-88EE-8449A81693C8}"/>
              </a:ext>
            </a:extLst>
          </p:cNvPr>
          <p:cNvSpPr/>
          <p:nvPr/>
        </p:nvSpPr>
        <p:spPr>
          <a:xfrm>
            <a:off x="8664366" y="3605451"/>
            <a:ext cx="1124943" cy="34917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Initialize graph</a:t>
            </a:r>
          </a:p>
        </p:txBody>
      </p:sp>
      <p:sp>
        <p:nvSpPr>
          <p:cNvPr id="29" name="Rounded Rectangle 28">
            <a:extLst>
              <a:ext uri="{FF2B5EF4-FFF2-40B4-BE49-F238E27FC236}">
                <a16:creationId xmlns:a16="http://schemas.microsoft.com/office/drawing/2014/main" id="{44AD2133-4686-F666-DE71-C3B77265421E}"/>
              </a:ext>
            </a:extLst>
          </p:cNvPr>
          <p:cNvSpPr/>
          <p:nvPr/>
        </p:nvSpPr>
        <p:spPr>
          <a:xfrm>
            <a:off x="558265" y="3916760"/>
            <a:ext cx="1145407" cy="405615"/>
          </a:xfrm>
          <a:prstGeom prst="roundRect">
            <a:avLst/>
          </a:prstGeom>
          <a:solidFill>
            <a:schemeClr val="bg1">
              <a:lumMod val="8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a:solidFill>
                    <a:srgbClr val="FF0000"/>
                  </a:solidFill>
                </a:ln>
              </a:rPr>
              <a:t>Why?</a:t>
            </a:r>
          </a:p>
        </p:txBody>
      </p:sp>
      <p:sp>
        <p:nvSpPr>
          <p:cNvPr id="30" name="Rounded Rectangle 29">
            <a:extLst>
              <a:ext uri="{FF2B5EF4-FFF2-40B4-BE49-F238E27FC236}">
                <a16:creationId xmlns:a16="http://schemas.microsoft.com/office/drawing/2014/main" id="{550884E3-8C6F-D131-3D2E-DCBDEAB6EFBA}"/>
              </a:ext>
            </a:extLst>
          </p:cNvPr>
          <p:cNvSpPr/>
          <p:nvPr/>
        </p:nvSpPr>
        <p:spPr>
          <a:xfrm>
            <a:off x="499278" y="4455685"/>
            <a:ext cx="5792931" cy="1213595"/>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tx1"/>
                </a:solidFill>
                <a:effectLst>
                  <a:outerShdw blurRad="38100" dist="19050" dir="2700000" algn="tl" rotWithShape="0">
                    <a:schemeClr val="dk1">
                      <a:alpha val="40000"/>
                    </a:schemeClr>
                  </a:outerShdw>
                </a:effectLst>
              </a:rPr>
              <a:t>1-Understand Local vs. global organization of the brain </a:t>
            </a:r>
          </a:p>
          <a:p>
            <a:pPr algn="ctr"/>
            <a:r>
              <a:rPr lang="en-US" sz="1600" dirty="0">
                <a:ln w="0"/>
                <a:solidFill>
                  <a:schemeClr val="tx1"/>
                </a:solidFill>
                <a:effectLst>
                  <a:outerShdw blurRad="38100" dist="19050" dir="2700000" algn="tl" rotWithShape="0">
                    <a:schemeClr val="dk1">
                      <a:alpha val="40000"/>
                    </a:schemeClr>
                  </a:outerShdw>
                </a:effectLst>
              </a:rPr>
              <a:t>2-Identify hubs and network integration/segregation </a:t>
            </a:r>
          </a:p>
          <a:p>
            <a:pPr algn="ctr"/>
            <a:r>
              <a:rPr lang="en-US" sz="1600" dirty="0">
                <a:ln w="0"/>
                <a:solidFill>
                  <a:schemeClr val="tx1"/>
                </a:solidFill>
                <a:effectLst>
                  <a:outerShdw blurRad="38100" dist="19050" dir="2700000" algn="tl" rotWithShape="0">
                    <a:schemeClr val="dk1">
                      <a:alpha val="40000"/>
                    </a:schemeClr>
                  </a:outerShdw>
                </a:effectLst>
              </a:rPr>
              <a:t>3-Compare groups (e.g., healthy vs. patient, rested vs. sleep deprived)</a:t>
            </a:r>
          </a:p>
        </p:txBody>
      </p:sp>
      <p:cxnSp>
        <p:nvCxnSpPr>
          <p:cNvPr id="31" name="Straight Connector 30">
            <a:extLst>
              <a:ext uri="{FF2B5EF4-FFF2-40B4-BE49-F238E27FC236}">
                <a16:creationId xmlns:a16="http://schemas.microsoft.com/office/drawing/2014/main" id="{ABA376F5-9C59-421B-DC9E-7C0AD626E117}"/>
              </a:ext>
            </a:extLst>
          </p:cNvPr>
          <p:cNvCxnSpPr>
            <a:cxnSpLocks/>
          </p:cNvCxnSpPr>
          <p:nvPr/>
        </p:nvCxnSpPr>
        <p:spPr>
          <a:xfrm>
            <a:off x="0" y="6603076"/>
            <a:ext cx="4624646"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32" name="Straight Connector 31">
            <a:extLst>
              <a:ext uri="{FF2B5EF4-FFF2-40B4-BE49-F238E27FC236}">
                <a16:creationId xmlns:a16="http://schemas.microsoft.com/office/drawing/2014/main" id="{C17E8F29-1B02-98A5-C984-4D8F5AE773B9}"/>
              </a:ext>
            </a:extLst>
          </p:cNvPr>
          <p:cNvCxnSpPr>
            <a:cxnSpLocks/>
          </p:cNvCxnSpPr>
          <p:nvPr/>
        </p:nvCxnSpPr>
        <p:spPr>
          <a:xfrm>
            <a:off x="7998387" y="6582367"/>
            <a:ext cx="4193613" cy="20709"/>
          </a:xfrm>
          <a:prstGeom prst="line">
            <a:avLst/>
          </a:prstGeom>
        </p:spPr>
        <p:style>
          <a:lnRef idx="2">
            <a:schemeClr val="accent4"/>
          </a:lnRef>
          <a:fillRef idx="0">
            <a:schemeClr val="accent4"/>
          </a:fillRef>
          <a:effectRef idx="1">
            <a:schemeClr val="accent4"/>
          </a:effectRef>
          <a:fontRef idx="minor">
            <a:schemeClr val="tx1"/>
          </a:fontRef>
        </p:style>
      </p:cxnSp>
      <p:sp>
        <p:nvSpPr>
          <p:cNvPr id="34" name="TextBox 33">
            <a:extLst>
              <a:ext uri="{FF2B5EF4-FFF2-40B4-BE49-F238E27FC236}">
                <a16:creationId xmlns:a16="http://schemas.microsoft.com/office/drawing/2014/main" id="{468DDE62-554E-140E-FD6D-04ACC1032BA2}"/>
              </a:ext>
            </a:extLst>
          </p:cNvPr>
          <p:cNvSpPr txBox="1"/>
          <p:nvPr/>
        </p:nvSpPr>
        <p:spPr>
          <a:xfrm>
            <a:off x="4596227" y="6354280"/>
            <a:ext cx="3657538" cy="400110"/>
          </a:xfrm>
          <a:prstGeom prst="rect">
            <a:avLst/>
          </a:prstGeom>
          <a:noFill/>
        </p:spPr>
        <p:txBody>
          <a:bodyPr wrap="square">
            <a:spAutoFit/>
          </a:bodyPr>
          <a:lstStyle/>
          <a:p>
            <a:r>
              <a:rPr lang="en-US" sz="2000" dirty="0"/>
              <a:t>Interdisciplinary schools|2026</a:t>
            </a:r>
          </a:p>
        </p:txBody>
      </p:sp>
      <p:sp>
        <p:nvSpPr>
          <p:cNvPr id="36" name="Delay 35">
            <a:extLst>
              <a:ext uri="{FF2B5EF4-FFF2-40B4-BE49-F238E27FC236}">
                <a16:creationId xmlns:a16="http://schemas.microsoft.com/office/drawing/2014/main" id="{4AAD973F-E9F8-86AC-2316-83304312D830}"/>
              </a:ext>
            </a:extLst>
          </p:cNvPr>
          <p:cNvSpPr/>
          <p:nvPr/>
        </p:nvSpPr>
        <p:spPr>
          <a:xfrm>
            <a:off x="-3127" y="365900"/>
            <a:ext cx="849394" cy="500374"/>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9</a:t>
            </a:r>
          </a:p>
        </p:txBody>
      </p:sp>
    </p:spTree>
    <p:extLst>
      <p:ext uri="{BB962C8B-B14F-4D97-AF65-F5344CB8AC3E}">
        <p14:creationId xmlns:p14="http://schemas.microsoft.com/office/powerpoint/2010/main" val="3016750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2A0288-CEB9-EA07-82F5-3261408D59EF}"/>
              </a:ext>
            </a:extLst>
          </p:cNvPr>
          <p:cNvPicPr>
            <a:picLocks noChangeAspect="1"/>
          </p:cNvPicPr>
          <p:nvPr/>
        </p:nvPicPr>
        <p:blipFill>
          <a:blip r:embed="rId2"/>
          <a:stretch>
            <a:fillRect/>
          </a:stretch>
        </p:blipFill>
        <p:spPr>
          <a:xfrm>
            <a:off x="993828" y="84757"/>
            <a:ext cx="10351905" cy="6773243"/>
          </a:xfrm>
          <a:prstGeom prst="rect">
            <a:avLst/>
          </a:prstGeom>
        </p:spPr>
      </p:pic>
      <p:pic>
        <p:nvPicPr>
          <p:cNvPr id="4" name="Picture 3">
            <a:extLst>
              <a:ext uri="{FF2B5EF4-FFF2-40B4-BE49-F238E27FC236}">
                <a16:creationId xmlns:a16="http://schemas.microsoft.com/office/drawing/2014/main" id="{B4897101-18FD-1B84-E3F2-EF28410997B9}"/>
              </a:ext>
            </a:extLst>
          </p:cNvPr>
          <p:cNvPicPr>
            <a:picLocks noChangeAspect="1"/>
          </p:cNvPicPr>
          <p:nvPr/>
        </p:nvPicPr>
        <p:blipFill>
          <a:blip r:embed="rId3"/>
          <a:stretch>
            <a:fillRect/>
          </a:stretch>
        </p:blipFill>
        <p:spPr>
          <a:xfrm>
            <a:off x="1463040" y="476133"/>
            <a:ext cx="9403882" cy="5684035"/>
          </a:xfrm>
          <a:prstGeom prst="rect">
            <a:avLst/>
          </a:prstGeom>
          <a:ln>
            <a:noFill/>
          </a:ln>
          <a:effectLst>
            <a:outerShdw blurRad="190500" algn="tl" rotWithShape="0">
              <a:srgbClr val="000000">
                <a:alpha val="70000"/>
              </a:srgbClr>
            </a:outerShdw>
          </a:effectLst>
        </p:spPr>
      </p:pic>
      <p:cxnSp>
        <p:nvCxnSpPr>
          <p:cNvPr id="5" name="Straight Connector 4">
            <a:extLst>
              <a:ext uri="{FF2B5EF4-FFF2-40B4-BE49-F238E27FC236}">
                <a16:creationId xmlns:a16="http://schemas.microsoft.com/office/drawing/2014/main" id="{67AE66C0-E30F-513C-481A-13AA7854957A}"/>
              </a:ext>
            </a:extLst>
          </p:cNvPr>
          <p:cNvCxnSpPr>
            <a:cxnSpLocks/>
          </p:cNvCxnSpPr>
          <p:nvPr/>
        </p:nvCxnSpPr>
        <p:spPr>
          <a:xfrm>
            <a:off x="0" y="6603076"/>
            <a:ext cx="4624646"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6" name="Straight Connector 5">
            <a:extLst>
              <a:ext uri="{FF2B5EF4-FFF2-40B4-BE49-F238E27FC236}">
                <a16:creationId xmlns:a16="http://schemas.microsoft.com/office/drawing/2014/main" id="{4BA34F94-6EB8-74CE-73B3-B362C0C6223A}"/>
              </a:ext>
            </a:extLst>
          </p:cNvPr>
          <p:cNvCxnSpPr>
            <a:cxnSpLocks/>
          </p:cNvCxnSpPr>
          <p:nvPr/>
        </p:nvCxnSpPr>
        <p:spPr>
          <a:xfrm>
            <a:off x="7940842" y="6556451"/>
            <a:ext cx="4251158" cy="0"/>
          </a:xfrm>
          <a:prstGeom prst="line">
            <a:avLst/>
          </a:prstGeom>
        </p:spPr>
        <p:style>
          <a:lnRef idx="2">
            <a:schemeClr val="accent4"/>
          </a:lnRef>
          <a:fillRef idx="0">
            <a:schemeClr val="accent4"/>
          </a:fillRef>
          <a:effectRef idx="1">
            <a:schemeClr val="accent4"/>
          </a:effectRef>
          <a:fontRef idx="minor">
            <a:schemeClr val="tx1"/>
          </a:fontRef>
        </p:style>
      </p:cxnSp>
      <p:sp>
        <p:nvSpPr>
          <p:cNvPr id="8" name="TextBox 7">
            <a:extLst>
              <a:ext uri="{FF2B5EF4-FFF2-40B4-BE49-F238E27FC236}">
                <a16:creationId xmlns:a16="http://schemas.microsoft.com/office/drawing/2014/main" id="{E6C8732A-2CE3-CA5D-EE5A-3C9F3490A557}"/>
              </a:ext>
            </a:extLst>
          </p:cNvPr>
          <p:cNvSpPr txBox="1"/>
          <p:nvPr/>
        </p:nvSpPr>
        <p:spPr>
          <a:xfrm>
            <a:off x="4555387" y="6351489"/>
            <a:ext cx="3506002" cy="400110"/>
          </a:xfrm>
          <a:prstGeom prst="rect">
            <a:avLst/>
          </a:prstGeom>
          <a:noFill/>
        </p:spPr>
        <p:txBody>
          <a:bodyPr wrap="square">
            <a:spAutoFit/>
          </a:bodyPr>
          <a:lstStyle/>
          <a:p>
            <a:r>
              <a:rPr lang="en-US" sz="2000" dirty="0"/>
              <a:t>Interdisciplinary schools|2026</a:t>
            </a:r>
          </a:p>
        </p:txBody>
      </p:sp>
      <p:sp>
        <p:nvSpPr>
          <p:cNvPr id="13" name="Delay 12">
            <a:extLst>
              <a:ext uri="{FF2B5EF4-FFF2-40B4-BE49-F238E27FC236}">
                <a16:creationId xmlns:a16="http://schemas.microsoft.com/office/drawing/2014/main" id="{91DD9AD6-C9D9-5F1B-C371-37616ABE263B}"/>
              </a:ext>
            </a:extLst>
          </p:cNvPr>
          <p:cNvSpPr/>
          <p:nvPr/>
        </p:nvSpPr>
        <p:spPr>
          <a:xfrm>
            <a:off x="-3127" y="365900"/>
            <a:ext cx="849394" cy="636504"/>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a:t>
            </a:r>
          </a:p>
        </p:txBody>
      </p:sp>
    </p:spTree>
    <p:extLst>
      <p:ext uri="{BB962C8B-B14F-4D97-AF65-F5344CB8AC3E}">
        <p14:creationId xmlns:p14="http://schemas.microsoft.com/office/powerpoint/2010/main" val="16683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360E8B-8179-043D-9953-2D819801F152}"/>
              </a:ext>
            </a:extLst>
          </p:cNvPr>
          <p:cNvPicPr>
            <a:picLocks noChangeAspect="1"/>
          </p:cNvPicPr>
          <p:nvPr/>
        </p:nvPicPr>
        <p:blipFill>
          <a:blip r:embed="rId2"/>
          <a:stretch>
            <a:fillRect/>
          </a:stretch>
        </p:blipFill>
        <p:spPr>
          <a:xfrm>
            <a:off x="920047" y="42378"/>
            <a:ext cx="10351905" cy="6773243"/>
          </a:xfrm>
          <a:prstGeom prst="rect">
            <a:avLst/>
          </a:prstGeom>
        </p:spPr>
      </p:pic>
      <p:sp>
        <p:nvSpPr>
          <p:cNvPr id="5" name="Rounded Rectangle 4">
            <a:extLst>
              <a:ext uri="{FF2B5EF4-FFF2-40B4-BE49-F238E27FC236}">
                <a16:creationId xmlns:a16="http://schemas.microsoft.com/office/drawing/2014/main" id="{306BE8C9-7601-D9A4-CDFE-8E22306E6FB2}"/>
              </a:ext>
            </a:extLst>
          </p:cNvPr>
          <p:cNvSpPr/>
          <p:nvPr/>
        </p:nvSpPr>
        <p:spPr>
          <a:xfrm>
            <a:off x="3176337" y="308008"/>
            <a:ext cx="5332396" cy="462013"/>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Key Graph-Based Measures </a:t>
            </a:r>
          </a:p>
        </p:txBody>
      </p:sp>
      <p:sp>
        <p:nvSpPr>
          <p:cNvPr id="6" name="Rounded Rectangle 5">
            <a:extLst>
              <a:ext uri="{FF2B5EF4-FFF2-40B4-BE49-F238E27FC236}">
                <a16:creationId xmlns:a16="http://schemas.microsoft.com/office/drawing/2014/main" id="{725F47D3-F7B0-97C7-E74C-4FDFA3529FE4}"/>
              </a:ext>
            </a:extLst>
          </p:cNvPr>
          <p:cNvSpPr/>
          <p:nvPr/>
        </p:nvSpPr>
        <p:spPr>
          <a:xfrm>
            <a:off x="442761" y="847023"/>
            <a:ext cx="2107933" cy="288758"/>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accent2">
                    <a:lumMod val="50000"/>
                  </a:schemeClr>
                </a:solidFill>
                <a:effectLst>
                  <a:outerShdw blurRad="38100" dist="19050" dir="2700000" algn="tl" rotWithShape="0">
                    <a:schemeClr val="dk1">
                      <a:alpha val="40000"/>
                    </a:schemeClr>
                  </a:outerShdw>
                </a:effectLst>
              </a:rPr>
              <a:t>Node-level Metrics</a:t>
            </a:r>
          </a:p>
        </p:txBody>
      </p:sp>
      <p:sp>
        <p:nvSpPr>
          <p:cNvPr id="7" name="Rounded Rectangle 6">
            <a:extLst>
              <a:ext uri="{FF2B5EF4-FFF2-40B4-BE49-F238E27FC236}">
                <a16:creationId xmlns:a16="http://schemas.microsoft.com/office/drawing/2014/main" id="{1C951710-07F0-1087-704D-061A379E5534}"/>
              </a:ext>
            </a:extLst>
          </p:cNvPr>
          <p:cNvSpPr/>
          <p:nvPr/>
        </p:nvSpPr>
        <p:spPr>
          <a:xfrm>
            <a:off x="442761" y="1251284"/>
            <a:ext cx="6506679" cy="39463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noFill/>
                </a:ln>
                <a:solidFill>
                  <a:schemeClr val="tx1"/>
                </a:solidFill>
                <a:effectLst>
                  <a:outerShdw blurRad="38100" dist="19050" dir="2700000" algn="tl" rotWithShape="0">
                    <a:schemeClr val="dk1">
                      <a:alpha val="40000"/>
                    </a:schemeClr>
                  </a:outerShdw>
                </a:effectLst>
              </a:rPr>
              <a:t>Degree: number of connection of a nodes(hub)</a:t>
            </a: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FC891FE4-7F2E-2668-57BD-CD51612E01C5}"/>
                  </a:ext>
                </a:extLst>
              </p14:cNvPr>
              <p14:cNvContentPartPr/>
              <p14:nvPr/>
            </p14:nvContentPartPr>
            <p14:xfrm>
              <a:off x="5542276" y="1433975"/>
              <a:ext cx="329400" cy="33120"/>
            </p14:xfrm>
          </p:contentPart>
        </mc:Choice>
        <mc:Fallback xmlns="">
          <p:pic>
            <p:nvPicPr>
              <p:cNvPr id="8" name="Ink 7">
                <a:extLst>
                  <a:ext uri="{FF2B5EF4-FFF2-40B4-BE49-F238E27FC236}">
                    <a16:creationId xmlns:a16="http://schemas.microsoft.com/office/drawing/2014/main" id="{FC891FE4-7F2E-2668-57BD-CD51612E01C5}"/>
                  </a:ext>
                </a:extLst>
              </p:cNvPr>
              <p:cNvPicPr/>
              <p:nvPr/>
            </p:nvPicPr>
            <p:blipFill>
              <a:blip r:embed="rId4"/>
              <a:stretch>
                <a:fillRect/>
              </a:stretch>
            </p:blipFill>
            <p:spPr>
              <a:xfrm>
                <a:off x="5488276" y="1326335"/>
                <a:ext cx="437040" cy="248760"/>
              </a:xfrm>
              <a:prstGeom prst="rect">
                <a:avLst/>
              </a:prstGeom>
            </p:spPr>
          </p:pic>
        </mc:Fallback>
      </mc:AlternateContent>
      <p:pic>
        <p:nvPicPr>
          <p:cNvPr id="10" name="Picture 9">
            <a:extLst>
              <a:ext uri="{FF2B5EF4-FFF2-40B4-BE49-F238E27FC236}">
                <a16:creationId xmlns:a16="http://schemas.microsoft.com/office/drawing/2014/main" id="{7BC5F5B6-CE27-29A2-0620-ED4AB8C9C1C2}"/>
              </a:ext>
            </a:extLst>
          </p:cNvPr>
          <p:cNvPicPr>
            <a:picLocks noChangeAspect="1"/>
          </p:cNvPicPr>
          <p:nvPr/>
        </p:nvPicPr>
        <p:blipFill>
          <a:blip r:embed="rId5"/>
          <a:stretch>
            <a:fillRect/>
          </a:stretch>
        </p:blipFill>
        <p:spPr>
          <a:xfrm>
            <a:off x="7081989" y="1135780"/>
            <a:ext cx="1599999" cy="5195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Rounded Rectangle 10">
            <a:extLst>
              <a:ext uri="{FF2B5EF4-FFF2-40B4-BE49-F238E27FC236}">
                <a16:creationId xmlns:a16="http://schemas.microsoft.com/office/drawing/2014/main" id="{CB457034-767E-A4CD-0D23-90F74C29F906}"/>
              </a:ext>
            </a:extLst>
          </p:cNvPr>
          <p:cNvSpPr/>
          <p:nvPr/>
        </p:nvSpPr>
        <p:spPr>
          <a:xfrm>
            <a:off x="442761" y="1790299"/>
            <a:ext cx="9606014" cy="500514"/>
          </a:xfrm>
          <a:prstGeom prst="roundRect">
            <a:avLst/>
          </a:prstGeom>
          <a:solidFill>
            <a:schemeClr val="bg1">
              <a:lumMod val="8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Cost: proportion of a node’s actual connections relative to the maximum possible connections </a:t>
            </a:r>
          </a:p>
        </p:txBody>
      </p:sp>
      <p:pic>
        <p:nvPicPr>
          <p:cNvPr id="13" name="Picture 12">
            <a:extLst>
              <a:ext uri="{FF2B5EF4-FFF2-40B4-BE49-F238E27FC236}">
                <a16:creationId xmlns:a16="http://schemas.microsoft.com/office/drawing/2014/main" id="{9B63AB5F-3A1C-1D22-C0DF-8F0FD5EFF359}"/>
              </a:ext>
            </a:extLst>
          </p:cNvPr>
          <p:cNvPicPr>
            <a:picLocks noChangeAspect="1"/>
          </p:cNvPicPr>
          <p:nvPr/>
        </p:nvPicPr>
        <p:blipFill>
          <a:blip r:embed="rId6"/>
          <a:stretch>
            <a:fillRect/>
          </a:stretch>
        </p:blipFill>
        <p:spPr>
          <a:xfrm>
            <a:off x="10216348" y="1707326"/>
            <a:ext cx="1532890" cy="5834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4" name="Rounded Rectangle 13">
            <a:extLst>
              <a:ext uri="{FF2B5EF4-FFF2-40B4-BE49-F238E27FC236}">
                <a16:creationId xmlns:a16="http://schemas.microsoft.com/office/drawing/2014/main" id="{4E638F74-1FA4-C6CA-3755-C0DC76955CA0}"/>
              </a:ext>
            </a:extLst>
          </p:cNvPr>
          <p:cNvSpPr/>
          <p:nvPr/>
        </p:nvSpPr>
        <p:spPr>
          <a:xfrm>
            <a:off x="442761" y="2387065"/>
            <a:ext cx="9692641" cy="539015"/>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Clustering Coefficient: how interconnected neighbors are (local integration)</a:t>
            </a:r>
          </a:p>
        </p:txBody>
      </p:sp>
      <p:sp>
        <p:nvSpPr>
          <p:cNvPr id="17" name="Rounded Rectangle 16">
            <a:extLst>
              <a:ext uri="{FF2B5EF4-FFF2-40B4-BE49-F238E27FC236}">
                <a16:creationId xmlns:a16="http://schemas.microsoft.com/office/drawing/2014/main" id="{DEDA04E2-8710-E534-A823-98EDC7EAD5F1}"/>
              </a:ext>
            </a:extLst>
          </p:cNvPr>
          <p:cNvSpPr/>
          <p:nvPr/>
        </p:nvSpPr>
        <p:spPr>
          <a:xfrm>
            <a:off x="442761" y="2977549"/>
            <a:ext cx="9692641" cy="502919"/>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Betweenness Centrality : how often a node lies on shortest paths(bridging role)</a:t>
            </a:r>
          </a:p>
        </p:txBody>
      </p:sp>
      <p:sp>
        <p:nvSpPr>
          <p:cNvPr id="18" name="Rounded Rectangle 17">
            <a:extLst>
              <a:ext uri="{FF2B5EF4-FFF2-40B4-BE49-F238E27FC236}">
                <a16:creationId xmlns:a16="http://schemas.microsoft.com/office/drawing/2014/main" id="{8663899F-7C82-170C-6E21-202B0B50E422}"/>
              </a:ext>
            </a:extLst>
          </p:cNvPr>
          <p:cNvSpPr/>
          <p:nvPr/>
        </p:nvSpPr>
        <p:spPr>
          <a:xfrm>
            <a:off x="442761" y="3657600"/>
            <a:ext cx="2444818" cy="346509"/>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lumMod val="50000"/>
                  </a:schemeClr>
                </a:solidFill>
              </a:rPr>
              <a:t>Network-level Metrics</a:t>
            </a:r>
          </a:p>
        </p:txBody>
      </p:sp>
      <p:sp>
        <p:nvSpPr>
          <p:cNvPr id="19" name="Rounded Rectangle 18">
            <a:extLst>
              <a:ext uri="{FF2B5EF4-FFF2-40B4-BE49-F238E27FC236}">
                <a16:creationId xmlns:a16="http://schemas.microsoft.com/office/drawing/2014/main" id="{AFA7436E-B76E-43E0-6050-4469C94984BE}"/>
              </a:ext>
            </a:extLst>
          </p:cNvPr>
          <p:cNvSpPr/>
          <p:nvPr/>
        </p:nvSpPr>
        <p:spPr>
          <a:xfrm>
            <a:off x="442761" y="4119613"/>
            <a:ext cx="8595361" cy="394635"/>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Average Path Length : how many steps on average to reach others (global integration)</a:t>
            </a:r>
          </a:p>
        </p:txBody>
      </p:sp>
      <p:pic>
        <p:nvPicPr>
          <p:cNvPr id="21" name="Picture 20">
            <a:extLst>
              <a:ext uri="{FF2B5EF4-FFF2-40B4-BE49-F238E27FC236}">
                <a16:creationId xmlns:a16="http://schemas.microsoft.com/office/drawing/2014/main" id="{A4AE6785-90AB-8E5E-B021-A9C5DA80E96A}"/>
              </a:ext>
            </a:extLst>
          </p:cNvPr>
          <p:cNvPicPr>
            <a:picLocks noChangeAspect="1"/>
          </p:cNvPicPr>
          <p:nvPr/>
        </p:nvPicPr>
        <p:blipFill>
          <a:blip r:embed="rId7"/>
          <a:stretch>
            <a:fillRect/>
          </a:stretch>
        </p:blipFill>
        <p:spPr>
          <a:xfrm>
            <a:off x="9189837" y="3898010"/>
            <a:ext cx="1439846" cy="5399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2" name="Rounded Rectangle 21">
            <a:extLst>
              <a:ext uri="{FF2B5EF4-FFF2-40B4-BE49-F238E27FC236}">
                <a16:creationId xmlns:a16="http://schemas.microsoft.com/office/drawing/2014/main" id="{5BB81068-3832-C98E-E8C6-1878CD274D9E}"/>
              </a:ext>
            </a:extLst>
          </p:cNvPr>
          <p:cNvSpPr/>
          <p:nvPr/>
        </p:nvSpPr>
        <p:spPr>
          <a:xfrm>
            <a:off x="442761" y="4620126"/>
            <a:ext cx="8595361" cy="481263"/>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Global Efficiency : speed of information transfer across the network </a:t>
            </a:r>
          </a:p>
        </p:txBody>
      </p:sp>
      <p:pic>
        <p:nvPicPr>
          <p:cNvPr id="26" name="Picture 25">
            <a:extLst>
              <a:ext uri="{FF2B5EF4-FFF2-40B4-BE49-F238E27FC236}">
                <a16:creationId xmlns:a16="http://schemas.microsoft.com/office/drawing/2014/main" id="{D7375210-780C-C0B5-72F1-24835B8C6DEB}"/>
              </a:ext>
            </a:extLst>
          </p:cNvPr>
          <p:cNvPicPr>
            <a:picLocks noChangeAspect="1"/>
          </p:cNvPicPr>
          <p:nvPr/>
        </p:nvPicPr>
        <p:blipFill>
          <a:blip r:embed="rId8"/>
          <a:stretch>
            <a:fillRect/>
          </a:stretch>
        </p:blipFill>
        <p:spPr>
          <a:xfrm>
            <a:off x="9189837" y="4596063"/>
            <a:ext cx="1930400" cy="5207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7" name="Rounded Rectangle 26">
            <a:extLst>
              <a:ext uri="{FF2B5EF4-FFF2-40B4-BE49-F238E27FC236}">
                <a16:creationId xmlns:a16="http://schemas.microsoft.com/office/drawing/2014/main" id="{81EEC282-FE26-7B8C-C793-C6BE66C77C47}"/>
              </a:ext>
            </a:extLst>
          </p:cNvPr>
          <p:cNvSpPr/>
          <p:nvPr/>
        </p:nvSpPr>
        <p:spPr>
          <a:xfrm>
            <a:off x="442761" y="5188017"/>
            <a:ext cx="8662738" cy="433137"/>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Local Efficiency :efficiency of information transfer within a node’s neighbors </a:t>
            </a:r>
          </a:p>
        </p:txBody>
      </p:sp>
      <p:pic>
        <p:nvPicPr>
          <p:cNvPr id="29" name="Picture 28">
            <a:extLst>
              <a:ext uri="{FF2B5EF4-FFF2-40B4-BE49-F238E27FC236}">
                <a16:creationId xmlns:a16="http://schemas.microsoft.com/office/drawing/2014/main" id="{F4CD36AB-4FC0-83B9-808B-BF40C498EB8A}"/>
              </a:ext>
            </a:extLst>
          </p:cNvPr>
          <p:cNvPicPr>
            <a:picLocks noChangeAspect="1"/>
          </p:cNvPicPr>
          <p:nvPr/>
        </p:nvPicPr>
        <p:blipFill>
          <a:blip r:embed="rId9"/>
          <a:stretch>
            <a:fillRect/>
          </a:stretch>
        </p:blipFill>
        <p:spPr>
          <a:xfrm>
            <a:off x="9189837" y="5224046"/>
            <a:ext cx="2849643" cy="15576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0" name="Rounded Rectangle 29">
            <a:extLst>
              <a:ext uri="{FF2B5EF4-FFF2-40B4-BE49-F238E27FC236}">
                <a16:creationId xmlns:a16="http://schemas.microsoft.com/office/drawing/2014/main" id="{C1D9CBCC-C00E-A715-98AF-3D10F75BDBFC}"/>
              </a:ext>
            </a:extLst>
          </p:cNvPr>
          <p:cNvSpPr/>
          <p:nvPr/>
        </p:nvSpPr>
        <p:spPr>
          <a:xfrm>
            <a:off x="442761" y="5736657"/>
            <a:ext cx="2319690" cy="266222"/>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lumMod val="50000"/>
                  </a:schemeClr>
                </a:solidFill>
              </a:rPr>
              <a:t>Interpretation</a:t>
            </a:r>
          </a:p>
        </p:txBody>
      </p:sp>
      <p:sp>
        <p:nvSpPr>
          <p:cNvPr id="31" name="Rounded Rectangle 30">
            <a:extLst>
              <a:ext uri="{FF2B5EF4-FFF2-40B4-BE49-F238E27FC236}">
                <a16:creationId xmlns:a16="http://schemas.microsoft.com/office/drawing/2014/main" id="{5D8F5DFE-53A3-DCD6-B4F0-A55D8C1DEBD0}"/>
              </a:ext>
            </a:extLst>
          </p:cNvPr>
          <p:cNvSpPr/>
          <p:nvPr/>
        </p:nvSpPr>
        <p:spPr>
          <a:xfrm>
            <a:off x="442761" y="6092792"/>
            <a:ext cx="7642460" cy="587141"/>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High clustering + high efficiency :small-word , organization (hallmark of healthy brain networks )</a:t>
            </a:r>
          </a:p>
        </p:txBody>
      </p:sp>
      <p:sp>
        <p:nvSpPr>
          <p:cNvPr id="32" name="Delay 31">
            <a:extLst>
              <a:ext uri="{FF2B5EF4-FFF2-40B4-BE49-F238E27FC236}">
                <a16:creationId xmlns:a16="http://schemas.microsoft.com/office/drawing/2014/main" id="{76BF855B-7356-E267-4DA9-C082E79D80DE}"/>
              </a:ext>
            </a:extLst>
          </p:cNvPr>
          <p:cNvSpPr/>
          <p:nvPr/>
        </p:nvSpPr>
        <p:spPr>
          <a:xfrm>
            <a:off x="-3127" y="365900"/>
            <a:ext cx="734647" cy="375245"/>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11</a:t>
            </a:r>
          </a:p>
        </p:txBody>
      </p:sp>
      <mc:AlternateContent xmlns:mc="http://schemas.openxmlformats.org/markup-compatibility/2006" xmlns:p14="http://schemas.microsoft.com/office/powerpoint/2010/main">
        <mc:Choice Requires="p14">
          <p:contentPart p14:bwMode="auto" r:id="rId10">
            <p14:nvContentPartPr>
              <p14:cNvPr id="33" name="Ink 32">
                <a:extLst>
                  <a:ext uri="{FF2B5EF4-FFF2-40B4-BE49-F238E27FC236}">
                    <a16:creationId xmlns:a16="http://schemas.microsoft.com/office/drawing/2014/main" id="{5915F24A-4AAD-BD0E-D066-B63AC92C2C90}"/>
                  </a:ext>
                </a:extLst>
              </p14:cNvPr>
              <p14:cNvContentPartPr/>
              <p14:nvPr/>
            </p14:nvContentPartPr>
            <p14:xfrm>
              <a:off x="7311316" y="2686017"/>
              <a:ext cx="1595880" cy="10800"/>
            </p14:xfrm>
          </p:contentPart>
        </mc:Choice>
        <mc:Fallback xmlns="">
          <p:pic>
            <p:nvPicPr>
              <p:cNvPr id="33" name="Ink 32">
                <a:extLst>
                  <a:ext uri="{FF2B5EF4-FFF2-40B4-BE49-F238E27FC236}">
                    <a16:creationId xmlns:a16="http://schemas.microsoft.com/office/drawing/2014/main" id="{5915F24A-4AAD-BD0E-D066-B63AC92C2C90}"/>
                  </a:ext>
                </a:extLst>
              </p:cNvPr>
              <p:cNvPicPr/>
              <p:nvPr/>
            </p:nvPicPr>
            <p:blipFill>
              <a:blip r:embed="rId11"/>
              <a:stretch>
                <a:fillRect/>
              </a:stretch>
            </p:blipFill>
            <p:spPr>
              <a:xfrm>
                <a:off x="7257676" y="2578017"/>
                <a:ext cx="170352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5" name="Ink 34">
                <a:extLst>
                  <a:ext uri="{FF2B5EF4-FFF2-40B4-BE49-F238E27FC236}">
                    <a16:creationId xmlns:a16="http://schemas.microsoft.com/office/drawing/2014/main" id="{2257F565-A0AF-9E99-32E5-C6A3BF208CCB}"/>
                  </a:ext>
                </a:extLst>
              </p14:cNvPr>
              <p14:cNvContentPartPr/>
              <p14:nvPr/>
            </p14:nvContentPartPr>
            <p14:xfrm>
              <a:off x="7068676" y="4325457"/>
              <a:ext cx="1730520" cy="27360"/>
            </p14:xfrm>
          </p:contentPart>
        </mc:Choice>
        <mc:Fallback xmlns="">
          <p:pic>
            <p:nvPicPr>
              <p:cNvPr id="35" name="Ink 34">
                <a:extLst>
                  <a:ext uri="{FF2B5EF4-FFF2-40B4-BE49-F238E27FC236}">
                    <a16:creationId xmlns:a16="http://schemas.microsoft.com/office/drawing/2014/main" id="{2257F565-A0AF-9E99-32E5-C6A3BF208CCB}"/>
                  </a:ext>
                </a:extLst>
              </p:cNvPr>
              <p:cNvPicPr/>
              <p:nvPr/>
            </p:nvPicPr>
            <p:blipFill>
              <a:blip r:embed="rId13"/>
              <a:stretch>
                <a:fillRect/>
              </a:stretch>
            </p:blipFill>
            <p:spPr>
              <a:xfrm>
                <a:off x="7014676" y="4217457"/>
                <a:ext cx="1838160" cy="243000"/>
              </a:xfrm>
              <a:prstGeom prst="rect">
                <a:avLst/>
              </a:prstGeom>
            </p:spPr>
          </p:pic>
        </mc:Fallback>
      </mc:AlternateContent>
    </p:spTree>
    <p:extLst>
      <p:ext uri="{BB962C8B-B14F-4D97-AF65-F5344CB8AC3E}">
        <p14:creationId xmlns:p14="http://schemas.microsoft.com/office/powerpoint/2010/main" val="3527656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0B6E77A-E06E-5727-30EE-4331B0BEE6E3}"/>
              </a:ext>
            </a:extLst>
          </p:cNvPr>
          <p:cNvPicPr>
            <a:picLocks noChangeAspect="1"/>
          </p:cNvPicPr>
          <p:nvPr/>
        </p:nvPicPr>
        <p:blipFill>
          <a:blip r:embed="rId2"/>
          <a:stretch>
            <a:fillRect/>
          </a:stretch>
        </p:blipFill>
        <p:spPr>
          <a:xfrm>
            <a:off x="-1" y="0"/>
            <a:ext cx="12192001" cy="6858000"/>
          </a:xfrm>
          <a:prstGeom prst="rect">
            <a:avLst/>
          </a:prstGeom>
        </p:spPr>
      </p:pic>
    </p:spTree>
    <p:extLst>
      <p:ext uri="{BB962C8B-B14F-4D97-AF65-F5344CB8AC3E}">
        <p14:creationId xmlns:p14="http://schemas.microsoft.com/office/powerpoint/2010/main" val="2129611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0C71B8-FB9A-300A-E472-041180F56D6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74738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789A1F-7425-BFF9-1521-6C9AEE5847B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24996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0F3A32-822F-61BA-C216-E234D912C03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92183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722EBA-767C-B8B4-B8E2-E22CEC21A76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249873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416168-75C5-30EF-2A87-54D370D078C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90896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A1BA03-5D29-E678-F415-0E06A99E64A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1861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BD75F4-D35D-0DAB-1CF5-A84A0F5A2C04}"/>
              </a:ext>
            </a:extLst>
          </p:cNvPr>
          <p:cNvPicPr>
            <a:picLocks noChangeAspect="1"/>
          </p:cNvPicPr>
          <p:nvPr/>
        </p:nvPicPr>
        <p:blipFill>
          <a:blip r:embed="rId2"/>
          <a:stretch>
            <a:fillRect/>
          </a:stretch>
        </p:blipFill>
        <p:spPr>
          <a:xfrm>
            <a:off x="993828" y="84757"/>
            <a:ext cx="10351905" cy="6773243"/>
          </a:xfrm>
          <a:prstGeom prst="rect">
            <a:avLst/>
          </a:prstGeom>
        </p:spPr>
      </p:pic>
      <p:pic>
        <p:nvPicPr>
          <p:cNvPr id="4" name="Picture 3">
            <a:extLst>
              <a:ext uri="{FF2B5EF4-FFF2-40B4-BE49-F238E27FC236}">
                <a16:creationId xmlns:a16="http://schemas.microsoft.com/office/drawing/2014/main" id="{257EFA96-CAE9-DDB7-DDD4-4A0A32C03795}"/>
              </a:ext>
            </a:extLst>
          </p:cNvPr>
          <p:cNvPicPr>
            <a:picLocks noChangeAspect="1"/>
          </p:cNvPicPr>
          <p:nvPr/>
        </p:nvPicPr>
        <p:blipFill>
          <a:blip r:embed="rId3"/>
          <a:stretch>
            <a:fillRect/>
          </a:stretch>
        </p:blipFill>
        <p:spPr>
          <a:xfrm>
            <a:off x="461946" y="326340"/>
            <a:ext cx="7203109" cy="30882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B37AF8B8-8978-B189-3FC9-774C5262E45D}"/>
              </a:ext>
            </a:extLst>
          </p:cNvPr>
          <p:cNvPicPr>
            <a:picLocks noChangeAspect="1"/>
          </p:cNvPicPr>
          <p:nvPr/>
        </p:nvPicPr>
        <p:blipFill>
          <a:blip r:embed="rId4"/>
          <a:stretch>
            <a:fillRect/>
          </a:stretch>
        </p:blipFill>
        <p:spPr>
          <a:xfrm>
            <a:off x="8059754" y="547971"/>
            <a:ext cx="3138418" cy="24765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B0FF1001-B103-2A54-0A3E-DA4787C2AC67}"/>
              </a:ext>
            </a:extLst>
          </p:cNvPr>
          <p:cNvPicPr>
            <a:picLocks noChangeAspect="1"/>
          </p:cNvPicPr>
          <p:nvPr/>
        </p:nvPicPr>
        <p:blipFill>
          <a:blip r:embed="rId5"/>
          <a:stretch>
            <a:fillRect/>
          </a:stretch>
        </p:blipFill>
        <p:spPr>
          <a:xfrm>
            <a:off x="461946" y="3471378"/>
            <a:ext cx="4440455" cy="2035209"/>
          </a:xfrm>
          <a:prstGeom prst="rect">
            <a:avLst/>
          </a:prstGeom>
        </p:spPr>
      </p:pic>
      <p:sp>
        <p:nvSpPr>
          <p:cNvPr id="9" name="Right Arrow 8">
            <a:extLst>
              <a:ext uri="{FF2B5EF4-FFF2-40B4-BE49-F238E27FC236}">
                <a16:creationId xmlns:a16="http://schemas.microsoft.com/office/drawing/2014/main" id="{58853425-686A-910B-A56F-D8AB107544F5}"/>
              </a:ext>
            </a:extLst>
          </p:cNvPr>
          <p:cNvSpPr/>
          <p:nvPr/>
        </p:nvSpPr>
        <p:spPr>
          <a:xfrm>
            <a:off x="5101389" y="4103971"/>
            <a:ext cx="1337912" cy="385011"/>
          </a:xfrm>
          <a:prstGeom prst="rightArrow">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50959B2A-ED1C-8F5E-EF70-76129BB9DD28}"/>
              </a:ext>
            </a:extLst>
          </p:cNvPr>
          <p:cNvSpPr/>
          <p:nvPr/>
        </p:nvSpPr>
        <p:spPr>
          <a:xfrm>
            <a:off x="6638289" y="3599849"/>
            <a:ext cx="4100362" cy="1463039"/>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Modularity: related to clusters of nodes, called modules, that have dense interconnectivity within clusters but sparse connections between nodes in different clusters.</a:t>
            </a:r>
          </a:p>
        </p:txBody>
      </p:sp>
      <p:pic>
        <p:nvPicPr>
          <p:cNvPr id="12" name="Picture 11">
            <a:extLst>
              <a:ext uri="{FF2B5EF4-FFF2-40B4-BE49-F238E27FC236}">
                <a16:creationId xmlns:a16="http://schemas.microsoft.com/office/drawing/2014/main" id="{0D143A7D-CA1E-E597-BDB8-097F63976127}"/>
              </a:ext>
            </a:extLst>
          </p:cNvPr>
          <p:cNvPicPr>
            <a:picLocks noChangeAspect="1"/>
          </p:cNvPicPr>
          <p:nvPr/>
        </p:nvPicPr>
        <p:blipFill>
          <a:blip r:embed="rId6"/>
          <a:stretch>
            <a:fillRect/>
          </a:stretch>
        </p:blipFill>
        <p:spPr>
          <a:xfrm>
            <a:off x="7289601" y="5176486"/>
            <a:ext cx="3449050" cy="1567916"/>
          </a:xfrm>
          <a:prstGeom prst="rect">
            <a:avLst/>
          </a:prstGeom>
        </p:spPr>
      </p:pic>
      <p:sp>
        <p:nvSpPr>
          <p:cNvPr id="13" name="Right Arrow 12">
            <a:extLst>
              <a:ext uri="{FF2B5EF4-FFF2-40B4-BE49-F238E27FC236}">
                <a16:creationId xmlns:a16="http://schemas.microsoft.com/office/drawing/2014/main" id="{9DFD9365-A059-B366-9EDC-67BED5EC2891}"/>
              </a:ext>
            </a:extLst>
          </p:cNvPr>
          <p:cNvSpPr/>
          <p:nvPr/>
        </p:nvSpPr>
        <p:spPr>
          <a:xfrm rot="10800000">
            <a:off x="5871410" y="5681112"/>
            <a:ext cx="1280160" cy="377523"/>
          </a:xfrm>
          <a:prstGeom prst="rightArrow">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BFA839B8-4609-43A7-DA63-19651C767120}"/>
              </a:ext>
            </a:extLst>
          </p:cNvPr>
          <p:cNvSpPr/>
          <p:nvPr/>
        </p:nvSpPr>
        <p:spPr>
          <a:xfrm>
            <a:off x="461946" y="5351646"/>
            <a:ext cx="4993975" cy="1374391"/>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Regular network (left) displays high clustering and a long average path length, while a random network(right) displays a low clustering coefficient and a short average path length. A small-world network(middle) illustrates an intermediate balance between regular and random networks(i.e., they consist of many short-range links alongside a few long-range links ), reflecting a high clustering coefficient and a short path length.</a:t>
            </a:r>
          </a:p>
        </p:txBody>
      </p:sp>
      <p:sp>
        <p:nvSpPr>
          <p:cNvPr id="15" name="Delay 14">
            <a:extLst>
              <a:ext uri="{FF2B5EF4-FFF2-40B4-BE49-F238E27FC236}">
                <a16:creationId xmlns:a16="http://schemas.microsoft.com/office/drawing/2014/main" id="{7DD896F8-E8EE-014A-2871-499F46D46E7A}"/>
              </a:ext>
            </a:extLst>
          </p:cNvPr>
          <p:cNvSpPr/>
          <p:nvPr/>
        </p:nvSpPr>
        <p:spPr>
          <a:xfrm>
            <a:off x="-3127" y="365900"/>
            <a:ext cx="532516" cy="432997"/>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12</a:t>
            </a:r>
          </a:p>
        </p:txBody>
      </p:sp>
    </p:spTree>
    <p:extLst>
      <p:ext uri="{BB962C8B-B14F-4D97-AF65-F5344CB8AC3E}">
        <p14:creationId xmlns:p14="http://schemas.microsoft.com/office/powerpoint/2010/main" val="2027406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24BD8B-4367-C04E-071E-8C1B45F854B0}"/>
              </a:ext>
            </a:extLst>
          </p:cNvPr>
          <p:cNvPicPr>
            <a:picLocks noChangeAspect="1"/>
          </p:cNvPicPr>
          <p:nvPr/>
        </p:nvPicPr>
        <p:blipFill>
          <a:blip r:embed="rId2"/>
          <a:stretch>
            <a:fillRect/>
          </a:stretch>
        </p:blipFill>
        <p:spPr>
          <a:xfrm>
            <a:off x="993828" y="84757"/>
            <a:ext cx="10351905" cy="6773243"/>
          </a:xfrm>
          <a:prstGeom prst="rect">
            <a:avLst/>
          </a:prstGeom>
        </p:spPr>
      </p:pic>
      <p:sp>
        <p:nvSpPr>
          <p:cNvPr id="3" name="Rounded Rectangle 2">
            <a:extLst>
              <a:ext uri="{FF2B5EF4-FFF2-40B4-BE49-F238E27FC236}">
                <a16:creationId xmlns:a16="http://schemas.microsoft.com/office/drawing/2014/main" id="{09AF34D7-BBFA-80FF-23BF-B9E24A4046D5}"/>
              </a:ext>
            </a:extLst>
          </p:cNvPr>
          <p:cNvSpPr/>
          <p:nvPr/>
        </p:nvSpPr>
        <p:spPr>
          <a:xfrm>
            <a:off x="3291840" y="1597793"/>
            <a:ext cx="5457524" cy="1183907"/>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Thank You</a:t>
            </a:r>
          </a:p>
        </p:txBody>
      </p:sp>
      <p:pic>
        <p:nvPicPr>
          <p:cNvPr id="4" name="Picture 3">
            <a:extLst>
              <a:ext uri="{FF2B5EF4-FFF2-40B4-BE49-F238E27FC236}">
                <a16:creationId xmlns:a16="http://schemas.microsoft.com/office/drawing/2014/main" id="{B7FDB9BC-4BF9-6F80-1D22-BCC19A281846}"/>
              </a:ext>
            </a:extLst>
          </p:cNvPr>
          <p:cNvPicPr>
            <a:picLocks noChangeAspect="1"/>
          </p:cNvPicPr>
          <p:nvPr/>
        </p:nvPicPr>
        <p:blipFill>
          <a:blip r:embed="rId3"/>
          <a:stretch>
            <a:fillRect/>
          </a:stretch>
        </p:blipFill>
        <p:spPr>
          <a:xfrm>
            <a:off x="3718621" y="3055798"/>
            <a:ext cx="377925" cy="373202"/>
          </a:xfrm>
          <a:prstGeom prst="rect">
            <a:avLst/>
          </a:prstGeom>
        </p:spPr>
      </p:pic>
      <p:pic>
        <p:nvPicPr>
          <p:cNvPr id="5" name="Picture 4">
            <a:extLst>
              <a:ext uri="{FF2B5EF4-FFF2-40B4-BE49-F238E27FC236}">
                <a16:creationId xmlns:a16="http://schemas.microsoft.com/office/drawing/2014/main" id="{A178B83E-5F7B-39B3-1571-365AF61FD397}"/>
              </a:ext>
            </a:extLst>
          </p:cNvPr>
          <p:cNvPicPr>
            <a:picLocks noChangeAspect="1"/>
          </p:cNvPicPr>
          <p:nvPr/>
        </p:nvPicPr>
        <p:blipFill>
          <a:blip r:embed="rId4"/>
          <a:stretch>
            <a:fillRect/>
          </a:stretch>
        </p:blipFill>
        <p:spPr>
          <a:xfrm>
            <a:off x="3718621" y="3490955"/>
            <a:ext cx="424285" cy="424285"/>
          </a:xfrm>
          <a:prstGeom prst="rect">
            <a:avLst/>
          </a:prstGeom>
        </p:spPr>
      </p:pic>
      <p:pic>
        <p:nvPicPr>
          <p:cNvPr id="6" name="Picture 5">
            <a:extLst>
              <a:ext uri="{FF2B5EF4-FFF2-40B4-BE49-F238E27FC236}">
                <a16:creationId xmlns:a16="http://schemas.microsoft.com/office/drawing/2014/main" id="{B0E14B9C-085C-D511-B1E9-810BD81CFA91}"/>
              </a:ext>
            </a:extLst>
          </p:cNvPr>
          <p:cNvPicPr>
            <a:picLocks noChangeAspect="1"/>
          </p:cNvPicPr>
          <p:nvPr/>
        </p:nvPicPr>
        <p:blipFill>
          <a:blip r:embed="rId5"/>
          <a:stretch>
            <a:fillRect/>
          </a:stretch>
        </p:blipFill>
        <p:spPr>
          <a:xfrm>
            <a:off x="3718621" y="3977195"/>
            <a:ext cx="387066" cy="392029"/>
          </a:xfrm>
          <a:prstGeom prst="rect">
            <a:avLst/>
          </a:prstGeom>
        </p:spPr>
      </p:pic>
      <p:pic>
        <p:nvPicPr>
          <p:cNvPr id="7" name="Picture 6">
            <a:extLst>
              <a:ext uri="{FF2B5EF4-FFF2-40B4-BE49-F238E27FC236}">
                <a16:creationId xmlns:a16="http://schemas.microsoft.com/office/drawing/2014/main" id="{FF0AD195-ECF9-A07A-5AA4-31EB57C13019}"/>
              </a:ext>
            </a:extLst>
          </p:cNvPr>
          <p:cNvPicPr>
            <a:picLocks noChangeAspect="1"/>
          </p:cNvPicPr>
          <p:nvPr/>
        </p:nvPicPr>
        <p:blipFill>
          <a:blip r:embed="rId6"/>
          <a:stretch>
            <a:fillRect/>
          </a:stretch>
        </p:blipFill>
        <p:spPr>
          <a:xfrm flipH="1">
            <a:off x="3701750" y="4435467"/>
            <a:ext cx="394796" cy="424285"/>
          </a:xfrm>
          <a:prstGeom prst="rect">
            <a:avLst/>
          </a:prstGeom>
        </p:spPr>
      </p:pic>
      <p:sp>
        <p:nvSpPr>
          <p:cNvPr id="10" name="TextBox 9">
            <a:extLst>
              <a:ext uri="{FF2B5EF4-FFF2-40B4-BE49-F238E27FC236}">
                <a16:creationId xmlns:a16="http://schemas.microsoft.com/office/drawing/2014/main" id="{44B6816D-50AC-5B5B-ED9B-FA4E61C2F2C4}"/>
              </a:ext>
            </a:extLst>
          </p:cNvPr>
          <p:cNvSpPr txBox="1"/>
          <p:nvPr/>
        </p:nvSpPr>
        <p:spPr>
          <a:xfrm>
            <a:off x="4096546" y="3046176"/>
            <a:ext cx="1580950" cy="369332"/>
          </a:xfrm>
          <a:prstGeom prst="rect">
            <a:avLst/>
          </a:prstGeom>
          <a:noFill/>
        </p:spPr>
        <p:txBody>
          <a:bodyPr wrap="square">
            <a:spAutoFit/>
          </a:bodyPr>
          <a:lstStyle/>
          <a:p>
            <a:r>
              <a:rPr lang="en-US" sz="1800" noProof="1"/>
              <a:t>@IDSchools</a:t>
            </a:r>
          </a:p>
        </p:txBody>
      </p:sp>
      <p:sp>
        <p:nvSpPr>
          <p:cNvPr id="14" name="TextBox 13">
            <a:extLst>
              <a:ext uri="{FF2B5EF4-FFF2-40B4-BE49-F238E27FC236}">
                <a16:creationId xmlns:a16="http://schemas.microsoft.com/office/drawing/2014/main" id="{42090491-52FB-F0FD-9F1F-3412EE093B45}"/>
              </a:ext>
            </a:extLst>
          </p:cNvPr>
          <p:cNvSpPr txBox="1"/>
          <p:nvPr/>
        </p:nvSpPr>
        <p:spPr>
          <a:xfrm>
            <a:off x="4083592" y="3532416"/>
            <a:ext cx="2784107" cy="369332"/>
          </a:xfrm>
          <a:prstGeom prst="rect">
            <a:avLst/>
          </a:prstGeom>
          <a:noFill/>
        </p:spPr>
        <p:txBody>
          <a:bodyPr wrap="square">
            <a:spAutoFit/>
          </a:bodyPr>
          <a:lstStyle/>
          <a:p>
            <a:r>
              <a:rPr lang="en-US" sz="1800" dirty="0"/>
              <a:t>@</a:t>
            </a:r>
            <a:r>
              <a:rPr lang="en-US" sz="1800" noProof="1"/>
              <a:t>Interdisciplinaryschools</a:t>
            </a:r>
            <a:endParaRPr lang="en-US" sz="1800" dirty="0"/>
          </a:p>
        </p:txBody>
      </p:sp>
      <p:sp>
        <p:nvSpPr>
          <p:cNvPr id="16" name="TextBox 15">
            <a:extLst>
              <a:ext uri="{FF2B5EF4-FFF2-40B4-BE49-F238E27FC236}">
                <a16:creationId xmlns:a16="http://schemas.microsoft.com/office/drawing/2014/main" id="{13434DC3-C5E2-FA4C-4B28-7F10D34F0D72}"/>
              </a:ext>
            </a:extLst>
          </p:cNvPr>
          <p:cNvSpPr txBox="1"/>
          <p:nvPr/>
        </p:nvSpPr>
        <p:spPr>
          <a:xfrm>
            <a:off x="4062932" y="4018656"/>
            <a:ext cx="2976613" cy="369332"/>
          </a:xfrm>
          <a:prstGeom prst="rect">
            <a:avLst/>
          </a:prstGeom>
          <a:noFill/>
        </p:spPr>
        <p:txBody>
          <a:bodyPr wrap="square">
            <a:spAutoFit/>
          </a:bodyPr>
          <a:lstStyle/>
          <a:p>
            <a:r>
              <a:rPr lang="en-US" sz="1800" dirty="0"/>
              <a:t>@interdisciplinary-schools</a:t>
            </a:r>
          </a:p>
        </p:txBody>
      </p:sp>
      <p:sp>
        <p:nvSpPr>
          <p:cNvPr id="18" name="TextBox 17">
            <a:extLst>
              <a:ext uri="{FF2B5EF4-FFF2-40B4-BE49-F238E27FC236}">
                <a16:creationId xmlns:a16="http://schemas.microsoft.com/office/drawing/2014/main" id="{576FF531-C6F9-9214-6F4D-0DF15BA4FAE4}"/>
              </a:ext>
            </a:extLst>
          </p:cNvPr>
          <p:cNvSpPr txBox="1"/>
          <p:nvPr/>
        </p:nvSpPr>
        <p:spPr>
          <a:xfrm>
            <a:off x="4071148" y="4462943"/>
            <a:ext cx="3818897" cy="369332"/>
          </a:xfrm>
          <a:prstGeom prst="rect">
            <a:avLst/>
          </a:prstGeom>
          <a:noFill/>
        </p:spPr>
        <p:txBody>
          <a:bodyPr wrap="square">
            <a:spAutoFit/>
          </a:bodyPr>
          <a:lstStyle/>
          <a:p>
            <a:r>
              <a:rPr lang="en-US" sz="1800" noProof="1"/>
              <a:t>https://interdisciplinaryschools.com</a:t>
            </a:r>
          </a:p>
        </p:txBody>
      </p:sp>
      <p:sp>
        <p:nvSpPr>
          <p:cNvPr id="20" name="TextBox 19">
            <a:extLst>
              <a:ext uri="{FF2B5EF4-FFF2-40B4-BE49-F238E27FC236}">
                <a16:creationId xmlns:a16="http://schemas.microsoft.com/office/drawing/2014/main" id="{F9F0C660-4F42-DAEA-F921-FBD8C5836E83}"/>
              </a:ext>
            </a:extLst>
          </p:cNvPr>
          <p:cNvSpPr txBox="1"/>
          <p:nvPr/>
        </p:nvSpPr>
        <p:spPr>
          <a:xfrm>
            <a:off x="93847" y="6340940"/>
            <a:ext cx="4401152" cy="400110"/>
          </a:xfrm>
          <a:prstGeom prst="rect">
            <a:avLst/>
          </a:prstGeom>
          <a:noFill/>
        </p:spPr>
        <p:txBody>
          <a:bodyPr wrap="square">
            <a:spAutoFit/>
          </a:bodyPr>
          <a:lstStyle/>
          <a:p>
            <a:r>
              <a:rPr lang="en-US" sz="2000" dirty="0"/>
              <a:t>Interdisciplinary schools|2026</a:t>
            </a:r>
          </a:p>
        </p:txBody>
      </p:sp>
      <p:sp>
        <p:nvSpPr>
          <p:cNvPr id="21" name="Delay 20">
            <a:extLst>
              <a:ext uri="{FF2B5EF4-FFF2-40B4-BE49-F238E27FC236}">
                <a16:creationId xmlns:a16="http://schemas.microsoft.com/office/drawing/2014/main" id="{E0D56430-3A99-1435-591C-11545626DB6D}"/>
              </a:ext>
            </a:extLst>
          </p:cNvPr>
          <p:cNvSpPr/>
          <p:nvPr/>
        </p:nvSpPr>
        <p:spPr>
          <a:xfrm>
            <a:off x="-3127" y="394636"/>
            <a:ext cx="696146" cy="607768"/>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13</a:t>
            </a:r>
          </a:p>
        </p:txBody>
      </p:sp>
    </p:spTree>
    <p:extLst>
      <p:ext uri="{BB962C8B-B14F-4D97-AF65-F5344CB8AC3E}">
        <p14:creationId xmlns:p14="http://schemas.microsoft.com/office/powerpoint/2010/main" val="37858366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1312</TotalTime>
  <Words>723</Words>
  <Application>Microsoft Macintosh PowerPoint</Application>
  <PresentationFormat>Widescreen</PresentationFormat>
  <Paragraphs>84</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vip3903</dc:creator>
  <cp:lastModifiedBy>vip3903</cp:lastModifiedBy>
  <cp:revision>3</cp:revision>
  <dcterms:created xsi:type="dcterms:W3CDTF">2026-09-14T12:31:50Z</dcterms:created>
  <dcterms:modified xsi:type="dcterms:W3CDTF">2026-09-28T13:34:51Z</dcterms:modified>
</cp:coreProperties>
</file>