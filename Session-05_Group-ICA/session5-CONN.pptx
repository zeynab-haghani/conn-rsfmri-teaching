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98"/>
  </p:normalViewPr>
  <p:slideViewPr>
    <p:cSldViewPr snapToGrid="0">
      <p:cViewPr varScale="1">
        <p:scale>
          <a:sx n="120" d="100"/>
          <a:sy n="120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0T20:37:44.2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240 880 24575,'-3'76'0,"-1"-7"0,4-16 0,0-24 0,0-18 0,-13-75 0,2-1 0,1 7 0,1-4 0,3 5 0,2-2 0,1-13 0,1-3 0,0-7 0,2-1 0,1 2 0,1 1 0,0 11 0,1 5 0,5-21 0,2 38 0,-1 33 0,0 25 0,2 21 0,1 20 0,5 14 0,4 12 0,7 15 0,-8-32 0,2 5 0,7 18 0,1 6-170,-7-24 1,0 2 0,0 1 169,-1 0 0,1 0 0,-3-1 0,7 23 0,-3-6 0,-6-22 0,-3-7 0,4 15 0,-10-42 0,-5-36 0,-6-26 0,-5-18 508,-3-12-508,-2-10 0,0-7 0,3-14 0,5 42 0,1 0 0,-3-46 0,4 12 0,0 25 0,2 22 0,0 8 0,0 0 0,0-4 0,0 2 0,1 11 0,2 11 0,4 10 0,5 11 0,2 10 0,3 11 0,0 8 0,0 4 0,-3-1 0,-3 0 0,-1-1 0,0 2 0,3 5 0,4 3 0,1 3 0,3-2 0,-2-10 0,-5-11 0,-5-12 0,-4-9 0,-3-48 0,0 15 0,-2-37 0,0 32 0,0 3 0,0 2 0,0 1 0,0-1 0,0 3 0,0-1 0,2-1 0,4-1 0,2 0 0,1 6 0,-2 7 0,-28 31 0,4-8 0,-26 23 0,11-18 0,0-3 0,-4-2 0,-3-2 0,-4-2 0,-5 0 0,-8 0 0,-10 0 0,-4 1 0,4-1 0,16 0 0,17-1 0,13 0 0,10 2 0,5 1 0,2 6 0,1 4 0,0 3 0,5 2 0,6 1 0,5 8 0,6 18 0,1 19 0,-10-22 0,0 3 0,0 7 0,0 2 0,0 1 0,1 1 0,-1-4 0,0-1 0,10 35 0,-2-26 0,-3-25 0,-3-15 0,-2-12 0,-1-4 0,1-1 0,1 1 0,-4 1 0,-2 1 0,-2-5 0,-30-48 0,11 6 0,-23-40 0,20 22 0,4 3 0,0-2 0,-4 1 0,-3 2 0,-1 8 0,2 15 0,7 14 0,3 8 0,4 14 0,4 12 0,1 12 0,1 8 0,4-1 0,4-4 0,5-5 0,3-5 0,-1-2 0,-2 0 0,-1 9 0,3 12 0,2 13 0,2 4 0,-2-6 0,-3-14 0,-3-16 0,-4-11 0,0-7 0,-2-4 0,-1 0 0,5 5 0,1 0 0,6 7 0,-3-1 0,-1 0 0,-2-4 0,0-5 0,1 0 0,2-1 0,2 4 0,5 4 0,8 6 0,7 7 0,5 2 0,-5-3 0,-8-7 0,-14-9 0,-11-5 0,-34-5 0,-4-6 0,-22-3 0,9-1 0,-3 1 0,-9 1 0,-16 4 0,-14 1 0,0 1 0,11 0 0,23 0 0,22-2 0,17 1 0,11 3 0,20 12 0,4 1 0,15 7 0,-5-6 0,7 4 0,4 8 0,9 7 0,1 3 0,-4-5 0,-9-8 0,-10-10 0,-5-7 0,-4-4 0,-3-3 0,0 1 0,-1-1 0,-1 1 0,2-1 0,-1-1 0,-1 0 0,-1 0 0,-1 0 0,2 0 0,2-3 0,5-7 0,6-7 0,3-5 0,0-2 0,-4 4 0,-6 3 0,-5 0 0,-2-3 0,0-7 0,3-9 0,1-9 0,-2-3 0,-5-5 0,-5 2 0,-2 3 0,0 1 0,0-1 0,-5-3 0,-5-6 0,-5 0 0,-2 3 0,2 5 0,2 7 0,2 4 0,1 0 0,2 4 0,1-1 0,0 1 0,1-1 0,1-3 0,2 1 0,1 3 0,2 6 0,0 4 0,0 5 0,1 6 0,3 4 0,2 5 0,7 1 0,-2 1 0,4 2 0,-2 2 0,-1 8 0,0 11 0,-1 11 0,-2 9 0,-2 4 0,2 4 0,2 7 0,3 13 0,4 11 0,1 11 0,-5-1 0,-5-11 0,-7-16 0,-2-22 0,0-13 0,0-8 0,0-5 0,0 3 0,-1 0 0,-3 4 0,-3 3 0,-1 2 0,0 2 0,-1-2 0,2-1 0,1-1 0,0 3 0,0 6 0,-1 6 0,1 5 0,0-1 0,1-5 0,1-5 0,0-9 0,2-5 0,0-9 0,11-40 0,-3 5 0,6-31 0,-8 20 0,-2-6 0,-2-10 0,0-15 0,0-14 0,1-11 0,2-3 0,2 4 0,0 8 0,-1 13 0,-2 14 0,-2 6 0,0 2 0,0-1 0,0-2 0,0 2 0,0 5 0,0 9 0,0 10 0,0 9 0,0 1 0,0-2 0,0-7 0,0-7 0,0-2 0,2 1 0,1 4 0,0 9 0,0 6 0,1 5 0,7 5 0,-1 18 0,5 5 0,-3 14 0,-3-5 0,0 1 0,-3-1 0,0 7 0,3 14 0,1 13 0,5 14 0,0 5 0,-4-10 0,-4-13 0,-5-14 0,-2-10 0,0 1 0,0-1 0,0-3 0,0-2 0,0-7 0,0-2 0,0 0 0,-2 3 0,-2 6 0,0 2 0,-1 1 0,2-2 0,0 0 0,0 0 0,1 2 0,2-2 0,-1-5 0,-1-5 0,-1-6 0,2-3 0,1 1 0,0-1 0,0 2 0,0-1 0,0-3 0,-2-2 0,-2 0 0,0-1 0,-2 0 0,3 0 0,-4-2 0,1-1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0T20:41:57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24575,'7'0'0,"1"0"0,1 0 0,2 0 0,0 0 0,2 0 0,2 0 0,1-4 0,1 0 0,3-3 0,0 1 0,0 3 0,-4-1 0,-3 2 0,-3 0 0,-3 2 0,0 0 0,0 0 0,0 0 0,1 0 0,1 0 0,1 0 0,2 0 0,-5 0 0,-5 0 0,-9 0 0,-1 0 0,-5 0 0,-2 0 0,-3 0 0,-4 0 0,1 0 0,1 0 0,1 0 0,3 0 0,2 0 0,3 0 0,0 0 0,0 0 0,1 0 0,0 0 0,2 0 0,0 1 0,-1 2 0,1 0 0,0 0 0,1 1 0,5-1 0,3-1 0,6 0 0,4-2 0,2 0 0,3 0 0,-1 0 0,2 0 0,1 0 0,0 0 0,-1 0 0,-3 0 0,-3 0 0,-1 0 0,-1 0 0,-1 0 0,1 0 0,0 0 0,-2 0 0,1 0 0,-1 0 0,1 0 0,0 0 0,0 0 0,-1 0 0,-4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0T20:45:50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 24575,'6'0'0,"1"0"0,3 0 0,2 0 0,0 0 0,0 0 0,-1 0 0,-3 0 0,0 0 0,0 0 0,2 0 0,0 0 0,0 0 0,-3 0 0,0 0 0,0 0 0,0 0 0,0 0 0,1 0 0,-1 0 0,0 0 0,1 0 0,-2 0 0,0 0 0,1 0 0,-3 0 0,-4 0 0,-5 0 0,-1 0 0,-5 0 0,-1 0 0,-2 0 0,-2 0 0,1 1 0,-1 1 0,2 0 0,2 0 0,1-2 0,1 0 0,1 1 0,1 1 0,-1 0 0,-1-1 0,-1 0 0,1-1 0,1 1 0,2 1 0,3 0 0,1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D193B-B284-7E6C-249D-CB0233BC7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2835E-8942-6D19-444F-710B40B29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73DA0-D798-9CF9-F043-2D11131B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742F5-750A-1236-2453-FE73C88BB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42CC4-D128-4356-49C6-853ECFB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3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E072-B7B2-E9A6-FAEB-C76E8118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D32CE-0071-3C1D-A404-2B8483624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6BFFD-50E5-88FB-704B-26A362AB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8A7F5-6042-D99D-0AE0-B66AF204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C6035-E674-7281-D409-603A81341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1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47BC4-7D93-06D2-D624-7488CF0B4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6672D-AADE-7630-0A56-CFE7606FA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4CEA-D3C6-3637-F9B8-A175FFEB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AB64B-F705-6D1D-16F4-256217531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F0550-0C0E-B1DD-7456-1BBB07FC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08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6AF4B-E608-6FDF-93CB-7CF1B244E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6C71-EECD-4768-DAEC-B4AE9B9E9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AD454-E462-D2B3-7CC4-E3CA3DD0D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925A0-2E72-3EDA-5BBA-3B42E6F79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BBFB4-3518-06F0-BCF3-16F7AC12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EADDA-4870-FBF9-6067-0F4E4FD9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7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9A220-9589-460B-F352-EF01070CD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FAA28-A4CB-5F3C-050B-C7A9CB1CC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2B500-097D-7C36-C059-BBB653E8B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7D5DE-3366-CB26-DBDD-C473A61C3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30D8A9-BAA2-A102-74F6-C98331D08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6AD645-F157-3F45-E1B2-5CA96786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2D7BB-00AB-F128-A855-4D4273D39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285E70-3F63-0F8E-580A-6F3198B5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28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FC6C-1E62-A7F8-EB87-6FC8ACF6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0244E5-DECE-0CFC-2AAF-7AC27E7A0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0FAA0-AA40-71DF-D662-37642550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5961F1-1C05-5AD9-CFBA-FE914759C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04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820DE-46E7-B689-2533-6C99A7F25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444A79-0A49-C111-3D9A-1C6E023FF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D6076-9F85-812D-151C-9B712868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30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22EF-F7E3-689D-0B0B-2453A34A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2A944-9DA0-00A7-6C5C-64CD6A536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7D70E-6702-114E-841D-360183E7F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9C8608-2016-6CF6-E29E-22A43FB4B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F0B25-B3A7-ED02-3BCD-3006B33F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057AF-4082-B0A8-DB69-6CEFA3D5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83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C3C9-4D68-93AC-4ADE-DFF50AC3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96BDCB-86FE-ABBA-A2C2-9C2048BFB2D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F01C0-5496-B69E-AB50-26580EA9D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3EDE4-D043-C287-5509-51FBFBD8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BACF4-06E7-472C-EBC4-B38CE7D33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03908-F852-D602-A834-E0C82FC2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4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6D911-3997-798F-2225-9B10AEBEF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4E85FB-41DD-565E-415F-C7BD1314D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68899-ACB0-5E6E-2A33-7904A6CE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B81A7-6219-8120-0EAE-F3257B32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20337-3738-5637-7186-45AB2FD8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4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23273A-6DE9-ED63-2929-8FF56011D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6C837-AFB9-F7C8-822F-A5DB74F73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FF0E-EFB0-1634-E78D-51A7ECE1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37119-E202-2EF6-DAAD-A6983E5B0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A5BB5-E0CA-8793-13DA-5B83B2ED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05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7B5D0F-680F-FE4C-785F-B57064307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346BD-3C98-0F10-328A-C15EDB74E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1A285-2991-BC72-5F87-E2ECD6186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DEBD3-9042-864C-8000-672E833BD04E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44818-F344-6457-E37F-6150AA3D3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A7B17-0D9F-B2CF-2305-B772AF923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492E6-751A-3049-83B2-452BFD112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41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customXml" Target="../ink/ink3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AE71F8-9BA3-35DE-CF34-FA409FCC6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47" y="-68731"/>
            <a:ext cx="10351905" cy="67732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020307-5C9F-4B9A-6065-75D816373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" y="4611104"/>
            <a:ext cx="396991" cy="392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7E8C2B-8761-B6AE-985C-64181A016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8" y="5086784"/>
            <a:ext cx="438939" cy="4389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90B6FB-1696-BE41-8E8E-E6082F6CC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3" y="5694200"/>
            <a:ext cx="397867" cy="3072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9277DE-DFCC-B8E8-F4DD-AB4CD9F79F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1768" y="6097412"/>
            <a:ext cx="394796" cy="4877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0FCCA9-094B-A144-DF60-4B8D82452AA1}"/>
              </a:ext>
            </a:extLst>
          </p:cNvPr>
          <p:cNvSpPr txBox="1"/>
          <p:nvPr/>
        </p:nvSpPr>
        <p:spPr>
          <a:xfrm>
            <a:off x="477537" y="46224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1"/>
              <a:t>@IDSchools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AFC6E1-8821-CF01-0142-FA4BAA6A1108}"/>
              </a:ext>
            </a:extLst>
          </p:cNvPr>
          <p:cNvSpPr txBox="1"/>
          <p:nvPr/>
        </p:nvSpPr>
        <p:spPr>
          <a:xfrm>
            <a:off x="477537" y="51608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@</a:t>
            </a:r>
            <a:r>
              <a:rPr lang="en-US" sz="1800" noProof="1"/>
              <a:t>Interdisciplinaryschools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DE4C56-0868-FB69-8D31-7C59F66DECB2}"/>
              </a:ext>
            </a:extLst>
          </p:cNvPr>
          <p:cNvSpPr txBox="1"/>
          <p:nvPr/>
        </p:nvSpPr>
        <p:spPr>
          <a:xfrm>
            <a:off x="477537" y="5669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@interdisciplinary-schools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82960C-7C73-42B4-88FE-AB470E072037}"/>
              </a:ext>
            </a:extLst>
          </p:cNvPr>
          <p:cNvSpPr txBox="1"/>
          <p:nvPr/>
        </p:nvSpPr>
        <p:spPr>
          <a:xfrm>
            <a:off x="456564" y="62158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1"/>
              <a:t>https://interdisciplinaryschools.com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951115-6B14-802E-DBB4-1D88D4CAABCF}"/>
              </a:ext>
            </a:extLst>
          </p:cNvPr>
          <p:cNvSpPr txBox="1"/>
          <p:nvPr/>
        </p:nvSpPr>
        <p:spPr>
          <a:xfrm>
            <a:off x="1511034" y="1740722"/>
            <a:ext cx="9629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SCIENTIFIC AND RESEARCH CENTER OF INTERDISCIPLINARY SCHOOLS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C1B2A7-535A-C930-37D6-A5BADC4B8A84}"/>
              </a:ext>
            </a:extLst>
          </p:cNvPr>
          <p:cNvSpPr txBox="1"/>
          <p:nvPr/>
        </p:nvSpPr>
        <p:spPr>
          <a:xfrm>
            <a:off x="1490133" y="2906719"/>
            <a:ext cx="96712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Title of the lesson : fMRI image processing , CONN toolbox</a:t>
            </a:r>
          </a:p>
          <a:p>
            <a:pPr algn="ctr"/>
            <a:r>
              <a:rPr lang="en-US" sz="2400" dirty="0"/>
              <a:t>Subject Title : </a:t>
            </a:r>
            <a:r>
              <a:rPr lang="en-US" sz="2400"/>
              <a:t>ICA </a:t>
            </a:r>
            <a:endParaRPr lang="en-US" sz="2400" dirty="0"/>
          </a:p>
          <a:p>
            <a:pPr algn="ctr"/>
            <a:r>
              <a:rPr lang="en-US" sz="2400" dirty="0"/>
              <a:t>Teacher’s Name: Zeynab Haghani</a:t>
            </a:r>
          </a:p>
          <a:p>
            <a:pPr algn="ctr"/>
            <a:r>
              <a:rPr lang="en-US" sz="2400" dirty="0"/>
              <a:t>Year and Season : Summer 2026</a:t>
            </a:r>
          </a:p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FD8F63C-C9A7-A9A2-DB46-E49BE45A41E4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69277F-A431-A725-02BB-3497CA21D950}"/>
              </a:ext>
            </a:extLst>
          </p:cNvPr>
          <p:cNvCxnSpPr>
            <a:cxnSpLocks/>
          </p:cNvCxnSpPr>
          <p:nvPr/>
        </p:nvCxnSpPr>
        <p:spPr>
          <a:xfrm flipV="1">
            <a:off x="7922954" y="6574364"/>
            <a:ext cx="4207278" cy="29462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E8BB4C-EC6C-CFF7-DF12-0CB4FCBA05F7}"/>
              </a:ext>
            </a:extLst>
          </p:cNvPr>
          <p:cNvSpPr txBox="1"/>
          <p:nvPr/>
        </p:nvSpPr>
        <p:spPr>
          <a:xfrm>
            <a:off x="4472246" y="6374309"/>
            <a:ext cx="6104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28" name="Delay 27">
            <a:extLst>
              <a:ext uri="{FF2B5EF4-FFF2-40B4-BE49-F238E27FC236}">
                <a16:creationId xmlns:a16="http://schemas.microsoft.com/office/drawing/2014/main" id="{A06B92AA-88E2-C938-3E56-38CD7F5E39DD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7092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4401B6-0B1C-B975-3809-07FFE52F3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89" y="54032"/>
            <a:ext cx="10351905" cy="677324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A2A0E2-1790-0459-229F-32724652BC9B}"/>
              </a:ext>
            </a:extLst>
          </p:cNvPr>
          <p:cNvSpPr/>
          <p:nvPr/>
        </p:nvSpPr>
        <p:spPr>
          <a:xfrm>
            <a:off x="3489434" y="331379"/>
            <a:ext cx="5213131" cy="66215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Network measures (voxel-level)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20C114-CA4B-D7BF-3351-DADF44022E32}"/>
              </a:ext>
            </a:extLst>
          </p:cNvPr>
          <p:cNvSpPr/>
          <p:nvPr/>
        </p:nvSpPr>
        <p:spPr>
          <a:xfrm>
            <a:off x="753848" y="1282531"/>
            <a:ext cx="10625958" cy="1524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-functional connectivity at the voxel level 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Data-driven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-calculate correlations between every voxel and every other voxel in the brain (massive matrix: millions of pairs).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0B9EED-AF04-CD00-E679-577D299039D0}"/>
              </a:ext>
            </a:extLst>
          </p:cNvPr>
          <p:cNvSpPr/>
          <p:nvPr/>
        </p:nvSpPr>
        <p:spPr>
          <a:xfrm>
            <a:off x="671731" y="3003297"/>
            <a:ext cx="1269932" cy="209155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Types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DE441-FCBB-7FC6-261D-FB1F23C86C80}"/>
              </a:ext>
            </a:extLst>
          </p:cNvPr>
          <p:cNvSpPr/>
          <p:nvPr/>
        </p:nvSpPr>
        <p:spPr>
          <a:xfrm>
            <a:off x="1941663" y="3003297"/>
            <a:ext cx="9330289" cy="209155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IC(Intrinsic Connectivity): RMS of correlation with all voxels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GCOR(Global Correlation): Mean correlation with all voxels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LCOR(local Correlation) : Mean correlation with local neighborhood (Gaussian Kernel)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Group ICA : Identify spatially independent brain networks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Group PCA: Identify principal variance components (no ICA rotation)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7A18B5-59EE-BB20-2368-346C4C0930BB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E10CDD-80FF-A0E9-8DD2-C3AD1662361C}"/>
              </a:ext>
            </a:extLst>
          </p:cNvPr>
          <p:cNvCxnSpPr>
            <a:cxnSpLocks/>
          </p:cNvCxnSpPr>
          <p:nvPr/>
        </p:nvCxnSpPr>
        <p:spPr>
          <a:xfrm>
            <a:off x="7977352" y="6603913"/>
            <a:ext cx="421464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57DD4DC-F503-CDB7-F6E2-F59741E6FD11}"/>
              </a:ext>
            </a:extLst>
          </p:cNvPr>
          <p:cNvSpPr txBox="1"/>
          <p:nvPr/>
        </p:nvSpPr>
        <p:spPr>
          <a:xfrm>
            <a:off x="4461641" y="640385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5" name="Delay 14">
            <a:extLst>
              <a:ext uri="{FF2B5EF4-FFF2-40B4-BE49-F238E27FC236}">
                <a16:creationId xmlns:a16="http://schemas.microsoft.com/office/drawing/2014/main" id="{FBDAFD1C-9A87-9A5D-9E07-ABC1A1B05847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75170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105D08-E923-6B46-AACE-93D9CD4A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90" y="0"/>
            <a:ext cx="10351905" cy="6773243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0A55A5F-0101-8DC1-5B9B-129BD5D52F44}"/>
              </a:ext>
            </a:extLst>
          </p:cNvPr>
          <p:cNvSpPr/>
          <p:nvPr/>
        </p:nvSpPr>
        <p:spPr>
          <a:xfrm>
            <a:off x="3310758" y="273269"/>
            <a:ext cx="5349766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ysClr val="windowText" lastClr="000000"/>
                </a:solidFill>
              </a:rPr>
              <a:t>Intrinsic Connectivity (IC)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E2FC0D-7240-D6D4-73B2-5BAF3245B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187" y="1406906"/>
            <a:ext cx="5443408" cy="4415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52C835-6235-6732-9D17-0BCEB4799F08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DD0A3D-A76E-D361-A18B-F6C5B554F294}"/>
              </a:ext>
            </a:extLst>
          </p:cNvPr>
          <p:cNvCxnSpPr>
            <a:cxnSpLocks/>
          </p:cNvCxnSpPr>
          <p:nvPr/>
        </p:nvCxnSpPr>
        <p:spPr>
          <a:xfrm>
            <a:off x="7887920" y="6603913"/>
            <a:ext cx="430408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EEC330-1429-0399-E529-14091858DCC6}"/>
              </a:ext>
            </a:extLst>
          </p:cNvPr>
          <p:cNvSpPr txBox="1"/>
          <p:nvPr/>
        </p:nvSpPr>
        <p:spPr>
          <a:xfrm>
            <a:off x="4472246" y="6403858"/>
            <a:ext cx="3883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BB7866-82B5-2B17-09C5-BAC3C2726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123" y="2868339"/>
            <a:ext cx="3002968" cy="11213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Delay 14">
            <a:extLst>
              <a:ext uri="{FF2B5EF4-FFF2-40B4-BE49-F238E27FC236}">
                <a16:creationId xmlns:a16="http://schemas.microsoft.com/office/drawing/2014/main" id="{18FB0973-F73B-47B5-7044-2DF1C1F839F8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1532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E9352F-E29D-3B86-ACBB-E6A33E648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90" y="0"/>
            <a:ext cx="10351905" cy="6773243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E8CC469-0165-1DF8-4D33-CED60CC87DE8}"/>
              </a:ext>
            </a:extLst>
          </p:cNvPr>
          <p:cNvSpPr/>
          <p:nvPr/>
        </p:nvSpPr>
        <p:spPr>
          <a:xfrm>
            <a:off x="3936124" y="211732"/>
            <a:ext cx="4099035" cy="96695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Global Correlation(GCOR)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A0824-7F45-60E6-2BD0-00DDADFF6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125" y="2914650"/>
            <a:ext cx="2997200" cy="1028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34F87B-D050-0C7B-9326-BF2417430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8942" y="1439935"/>
            <a:ext cx="5306410" cy="44414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9C9A79-0796-2327-B7C8-81E991E4E4A9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DA99B9-79FB-74E8-AF2D-DEE7257AF057}"/>
              </a:ext>
            </a:extLst>
          </p:cNvPr>
          <p:cNvCxnSpPr>
            <a:cxnSpLocks/>
          </p:cNvCxnSpPr>
          <p:nvPr/>
        </p:nvCxnSpPr>
        <p:spPr>
          <a:xfrm>
            <a:off x="7924800" y="6603913"/>
            <a:ext cx="42672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EDBB88E-ADBB-C8B5-EA82-C978C2D01954}"/>
              </a:ext>
            </a:extLst>
          </p:cNvPr>
          <p:cNvSpPr txBox="1"/>
          <p:nvPr/>
        </p:nvSpPr>
        <p:spPr>
          <a:xfrm>
            <a:off x="4472246" y="6403858"/>
            <a:ext cx="3883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2" name="Delay 11">
            <a:extLst>
              <a:ext uri="{FF2B5EF4-FFF2-40B4-BE49-F238E27FC236}">
                <a16:creationId xmlns:a16="http://schemas.microsoft.com/office/drawing/2014/main" id="{ABE7830E-6ECC-8156-F86A-019D124B8F09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96983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FD27098-526C-5334-E022-0F585396D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90" y="0"/>
            <a:ext cx="10351905" cy="6773243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D53AC12-9DDF-A550-3C25-D88D1B883B83}"/>
              </a:ext>
            </a:extLst>
          </p:cNvPr>
          <p:cNvSpPr/>
          <p:nvPr/>
        </p:nvSpPr>
        <p:spPr>
          <a:xfrm>
            <a:off x="3636579" y="199696"/>
            <a:ext cx="4487917" cy="81980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Local Correlation(LCOR)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F731E-FFF7-D3C1-853D-67A6DB35B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407" y="2618851"/>
            <a:ext cx="2538344" cy="12775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9190F0-C265-8480-AD2D-E3C811C63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241" y="1219199"/>
            <a:ext cx="5090510" cy="45237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51E054-5D45-C2FB-7E6D-17F49EAEAB1D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CAB839-014F-B354-BF44-F3CC584A1DB1}"/>
              </a:ext>
            </a:extLst>
          </p:cNvPr>
          <p:cNvCxnSpPr>
            <a:cxnSpLocks/>
          </p:cNvCxnSpPr>
          <p:nvPr/>
        </p:nvCxnSpPr>
        <p:spPr>
          <a:xfrm>
            <a:off x="7930055" y="6554419"/>
            <a:ext cx="4261945" cy="183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F47866-6116-4C8F-589F-EDC851D62644}"/>
              </a:ext>
            </a:extLst>
          </p:cNvPr>
          <p:cNvSpPr txBox="1"/>
          <p:nvPr/>
        </p:nvSpPr>
        <p:spPr>
          <a:xfrm>
            <a:off x="4472246" y="6356203"/>
            <a:ext cx="37837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5" name="Delay 14">
            <a:extLst>
              <a:ext uri="{FF2B5EF4-FFF2-40B4-BE49-F238E27FC236}">
                <a16:creationId xmlns:a16="http://schemas.microsoft.com/office/drawing/2014/main" id="{F36009B5-CC0A-4F39-4C58-FE4B6046650B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69591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54A900-98B7-65AC-D606-B3C958F7D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72" y="0"/>
            <a:ext cx="10351905" cy="6773243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EB02BD-7556-8761-E0F0-D9B98CA85E93}"/>
              </a:ext>
            </a:extLst>
          </p:cNvPr>
          <p:cNvSpPr/>
          <p:nvPr/>
        </p:nvSpPr>
        <p:spPr>
          <a:xfrm>
            <a:off x="3962401" y="231227"/>
            <a:ext cx="4046482" cy="914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Interhemisferic</a:t>
            </a:r>
            <a:r>
              <a:rPr lang="en-US" dirty="0"/>
              <a:t> Correlation (IHC)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0FA73-3BC6-568E-CB83-7DB2F55E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145" y="2426835"/>
            <a:ext cx="3172373" cy="15325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0CC1F5-F346-99FB-B06C-B9FC1119A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228" y="1790700"/>
            <a:ext cx="6045200" cy="3276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D3FCB8-727E-C1E0-FB8B-88C688E48ECE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430439-72AA-7BC4-C4AA-440D79486A22}"/>
              </a:ext>
            </a:extLst>
          </p:cNvPr>
          <p:cNvCxnSpPr>
            <a:cxnSpLocks/>
          </p:cNvCxnSpPr>
          <p:nvPr/>
        </p:nvCxnSpPr>
        <p:spPr>
          <a:xfrm>
            <a:off x="7898430" y="6603913"/>
            <a:ext cx="429357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5B141D-4ECF-BC0B-3EC4-4DA158870CB5}"/>
              </a:ext>
            </a:extLst>
          </p:cNvPr>
          <p:cNvSpPr txBox="1"/>
          <p:nvPr/>
        </p:nvSpPr>
        <p:spPr>
          <a:xfrm>
            <a:off x="4472246" y="6373133"/>
            <a:ext cx="3852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4" name="Delay 13">
            <a:extLst>
              <a:ext uri="{FF2B5EF4-FFF2-40B4-BE49-F238E27FC236}">
                <a16:creationId xmlns:a16="http://schemas.microsoft.com/office/drawing/2014/main" id="{E66A626E-F4FA-F948-FDA0-F222EAEF4545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66493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2E83C8-62E0-AB08-8158-E235050F8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72" y="0"/>
            <a:ext cx="10351905" cy="677324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93647B-EC13-A425-99DE-E538666BD83D}"/>
              </a:ext>
            </a:extLst>
          </p:cNvPr>
          <p:cNvSpPr/>
          <p:nvPr/>
        </p:nvSpPr>
        <p:spPr>
          <a:xfrm>
            <a:off x="2480442" y="210207"/>
            <a:ext cx="6505903" cy="77776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Independent Component Analysis (ICA)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8DF159-CA2E-F16C-5AA9-A42D2D7B4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129" y="2081048"/>
            <a:ext cx="1837147" cy="2230821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291769-B439-8CBA-7F2F-245F1759CFFA}"/>
              </a:ext>
            </a:extLst>
          </p:cNvPr>
          <p:cNvSpPr/>
          <p:nvPr/>
        </p:nvSpPr>
        <p:spPr>
          <a:xfrm>
            <a:off x="1219200" y="1303282"/>
            <a:ext cx="2039007" cy="77776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 Free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6A0AC52-2395-3C14-CB3E-8BE000E5F76C}"/>
              </a:ext>
            </a:extLst>
          </p:cNvPr>
          <p:cNvSpPr/>
          <p:nvPr/>
        </p:nvSpPr>
        <p:spPr>
          <a:xfrm>
            <a:off x="3588646" y="1198179"/>
            <a:ext cx="7615621" cy="13768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Purpose: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1- To identify components within millions of voxels (Note it’s difference with ROI/Seed definition we previously had.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2- To extract time-series of each component</a:t>
            </a:r>
            <a:r>
              <a:rPr lang="en-US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FBCA17-14DB-F9E2-7DFA-2258A9080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126" y="2668314"/>
            <a:ext cx="4020660" cy="299150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A73A70-F95F-B92C-D785-DDC6FD72120D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F08026-349E-4727-31E3-70A621EEB242}"/>
              </a:ext>
            </a:extLst>
          </p:cNvPr>
          <p:cNvCxnSpPr>
            <a:cxnSpLocks/>
          </p:cNvCxnSpPr>
          <p:nvPr/>
        </p:nvCxnSpPr>
        <p:spPr>
          <a:xfrm flipV="1">
            <a:off x="7914290" y="6571349"/>
            <a:ext cx="4273425" cy="3256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C7476F4-41D6-A5AA-A8C3-9CC9977AF341}"/>
              </a:ext>
            </a:extLst>
          </p:cNvPr>
          <p:cNvSpPr txBox="1"/>
          <p:nvPr/>
        </p:nvSpPr>
        <p:spPr>
          <a:xfrm>
            <a:off x="4472246" y="6373133"/>
            <a:ext cx="3563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8" name="Delay 17">
            <a:extLst>
              <a:ext uri="{FF2B5EF4-FFF2-40B4-BE49-F238E27FC236}">
                <a16:creationId xmlns:a16="http://schemas.microsoft.com/office/drawing/2014/main" id="{B1A472EB-3250-E1B8-9797-CB709990E261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64460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CC3D65-D79D-6FDB-91BA-25957CCA9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61" y="0"/>
            <a:ext cx="10351905" cy="67732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CBA3BF-6180-2937-CF02-59951346B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086" y="792349"/>
            <a:ext cx="9523827" cy="43484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73DA32-D318-DD90-7B86-FF8DBF0C9825}"/>
              </a:ext>
            </a:extLst>
          </p:cNvPr>
          <p:cNvSpPr txBox="1"/>
          <p:nvPr/>
        </p:nvSpPr>
        <p:spPr>
          <a:xfrm>
            <a:off x="1664035" y="5219777"/>
            <a:ext cx="381283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-Results depend on the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ACB5F-5B95-D725-E9A2-AC825D75A30D}"/>
              </a:ext>
            </a:extLst>
          </p:cNvPr>
          <p:cNvSpPr txBox="1"/>
          <p:nvPr/>
        </p:nvSpPr>
        <p:spPr>
          <a:xfrm>
            <a:off x="7126012" y="5219777"/>
            <a:ext cx="324769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-Can give unexpected results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15B5DE-C646-5EF5-A544-FC9F38EA1642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C01A0C-5378-CC36-1C03-FD5B0A34E472}"/>
              </a:ext>
            </a:extLst>
          </p:cNvPr>
          <p:cNvCxnSpPr>
            <a:cxnSpLocks/>
          </p:cNvCxnSpPr>
          <p:nvPr/>
        </p:nvCxnSpPr>
        <p:spPr>
          <a:xfrm>
            <a:off x="7987862" y="6603913"/>
            <a:ext cx="420413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52E45D-E30A-497A-4ED6-5D49E9008B5E}"/>
              </a:ext>
            </a:extLst>
          </p:cNvPr>
          <p:cNvSpPr txBox="1"/>
          <p:nvPr/>
        </p:nvSpPr>
        <p:spPr>
          <a:xfrm>
            <a:off x="4472246" y="6373133"/>
            <a:ext cx="3515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4" name="Delay 13">
            <a:extLst>
              <a:ext uri="{FF2B5EF4-FFF2-40B4-BE49-F238E27FC236}">
                <a16:creationId xmlns:a16="http://schemas.microsoft.com/office/drawing/2014/main" id="{347171EB-53B3-62FC-F51A-344C428B315C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24747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46FB0E-3DD9-E541-BC58-7E7629758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72" y="254086"/>
            <a:ext cx="10351905" cy="6773243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81AFBE0-5C4E-7AFC-067E-5A8D0B53984F}"/>
              </a:ext>
            </a:extLst>
          </p:cNvPr>
          <p:cNvSpPr/>
          <p:nvPr/>
        </p:nvSpPr>
        <p:spPr>
          <a:xfrm>
            <a:off x="3020455" y="263151"/>
            <a:ext cx="5728138" cy="7882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What are components?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72BA7-0D61-38E7-1B12-6662535CB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730" y="1440701"/>
            <a:ext cx="6709587" cy="44072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BC95C-1C70-25D4-DAE2-B517A2A3F837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14CB02-64AB-3414-F48F-5C98D929C17D}"/>
              </a:ext>
            </a:extLst>
          </p:cNvPr>
          <p:cNvCxnSpPr>
            <a:cxnSpLocks/>
          </p:cNvCxnSpPr>
          <p:nvPr/>
        </p:nvCxnSpPr>
        <p:spPr>
          <a:xfrm flipV="1">
            <a:off x="7945821" y="6594849"/>
            <a:ext cx="4246179" cy="906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ECF56A4-3CF2-D292-0106-CEB4A7BA5F20}"/>
              </a:ext>
            </a:extLst>
          </p:cNvPr>
          <p:cNvSpPr txBox="1"/>
          <p:nvPr/>
        </p:nvSpPr>
        <p:spPr>
          <a:xfrm>
            <a:off x="4472246" y="6356203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4" name="Delay 13">
            <a:extLst>
              <a:ext uri="{FF2B5EF4-FFF2-40B4-BE49-F238E27FC236}">
                <a16:creationId xmlns:a16="http://schemas.microsoft.com/office/drawing/2014/main" id="{5EE7F901-ED74-B2E3-DFF3-C12D516735BA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50263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F41D75-7883-172C-5CFB-1EFEF6E08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72" y="0"/>
            <a:ext cx="10351905" cy="67732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B4867C-0FB7-00A8-347B-88F1EA969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23" y="1266989"/>
            <a:ext cx="3713945" cy="28193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A2030C-6DA5-41BB-35EA-9E71F0EC9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647" y="1073526"/>
            <a:ext cx="6112634" cy="2082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4F11D5-4F48-37E6-9D39-484318AA4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416" y="3241473"/>
            <a:ext cx="2645541" cy="25349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C0E45B-85D5-AB44-91C6-59B63B0FD060}"/>
              </a:ext>
            </a:extLst>
          </p:cNvPr>
          <p:cNvSpPr txBox="1"/>
          <p:nvPr/>
        </p:nvSpPr>
        <p:spPr>
          <a:xfrm>
            <a:off x="1131523" y="704194"/>
            <a:ext cx="2662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cocktail-party problem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B7141E6-098F-CD41-AB0A-D2FA9D1135F2}"/>
                  </a:ext>
                </a:extLst>
              </p14:cNvPr>
              <p14:cNvContentPartPr/>
              <p14:nvPr/>
            </p14:nvContentPartPr>
            <p14:xfrm>
              <a:off x="4468150" y="1280131"/>
              <a:ext cx="335880" cy="1036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B7141E6-098F-CD41-AB0A-D2FA9D1135F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05150" y="1217491"/>
                <a:ext cx="461520" cy="11620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C1EFA5E-AE4F-1D9A-9C15-11F962EC3429}"/>
              </a:ext>
            </a:extLst>
          </p:cNvPr>
          <p:cNvSpPr txBox="1"/>
          <p:nvPr/>
        </p:nvSpPr>
        <p:spPr>
          <a:xfrm>
            <a:off x="935421" y="4086334"/>
            <a:ext cx="4466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Number of microphones </a:t>
            </a:r>
            <a:r>
              <a:rPr lang="fa-IR" sz="1600" dirty="0" err="1"/>
              <a:t>ٰٰٰٰ</a:t>
            </a:r>
            <a:r>
              <a:rPr lang="fa-IR" sz="1600" dirty="0"/>
              <a:t> &lt;</a:t>
            </a:r>
            <a:r>
              <a:rPr lang="en-US" sz="1600" dirty="0"/>
              <a:t>number of speakers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D2E4F27-CA54-2E7D-67DD-2E9704A5DC06}"/>
                  </a:ext>
                </a:extLst>
              </p14:cNvPr>
              <p14:cNvContentPartPr/>
              <p14:nvPr/>
            </p14:nvContentPartPr>
            <p14:xfrm>
              <a:off x="3223630" y="4331851"/>
              <a:ext cx="101880" cy="118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D2E4F27-CA54-2E7D-67DD-2E9704A5DC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19310" y="4327531"/>
                <a:ext cx="110520" cy="205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Bent Arrow 13">
            <a:extLst>
              <a:ext uri="{FF2B5EF4-FFF2-40B4-BE49-F238E27FC236}">
                <a16:creationId xmlns:a16="http://schemas.microsoft.com/office/drawing/2014/main" id="{7D637FC1-0D7D-E821-0AAD-75AF07F99EB2}"/>
              </a:ext>
            </a:extLst>
          </p:cNvPr>
          <p:cNvSpPr/>
          <p:nvPr/>
        </p:nvSpPr>
        <p:spPr>
          <a:xfrm rot="10800000">
            <a:off x="10122722" y="3145241"/>
            <a:ext cx="767255" cy="1363695"/>
          </a:xfrm>
          <a:prstGeom prst="ben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CC1037-6137-C359-3976-AE06AD40406F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6FFCED6-0985-E061-A718-A6E3246C6027}"/>
              </a:ext>
            </a:extLst>
          </p:cNvPr>
          <p:cNvCxnSpPr>
            <a:cxnSpLocks/>
          </p:cNvCxnSpPr>
          <p:nvPr/>
        </p:nvCxnSpPr>
        <p:spPr>
          <a:xfrm>
            <a:off x="7886599" y="6571717"/>
            <a:ext cx="4305401" cy="1839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A31C19A-3965-3606-D4F0-58D717198B48}"/>
              </a:ext>
            </a:extLst>
          </p:cNvPr>
          <p:cNvSpPr txBox="1"/>
          <p:nvPr/>
        </p:nvSpPr>
        <p:spPr>
          <a:xfrm>
            <a:off x="4441036" y="6354698"/>
            <a:ext cx="4129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20" name="Delay 19">
            <a:extLst>
              <a:ext uri="{FF2B5EF4-FFF2-40B4-BE49-F238E27FC236}">
                <a16:creationId xmlns:a16="http://schemas.microsoft.com/office/drawing/2014/main" id="{7B1199CB-0622-9848-6C96-75D384DA190D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37991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7597DF-3E3B-71F6-EE0C-B5D2242CB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72" y="84757"/>
            <a:ext cx="10351905" cy="67732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967732-D13E-3D9A-D4B8-F39E8C1D8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28" y="588204"/>
            <a:ext cx="5367262" cy="40751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E93223-CB15-3B56-DDF5-9D3CF25CF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414" y="588204"/>
            <a:ext cx="4727269" cy="43096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365F6D-E088-FD2C-6EEF-0D149C7A5191}"/>
              </a:ext>
            </a:extLst>
          </p:cNvPr>
          <p:cNvSpPr txBox="1"/>
          <p:nvPr/>
        </p:nvSpPr>
        <p:spPr>
          <a:xfrm>
            <a:off x="525366" y="4713155"/>
            <a:ext cx="4106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l" defTabSz="914400" rtl="0" eaLnBrk="1" latinLnBrk="0" hangingPunct="1"/>
            <a:r>
              <a:rPr lang="en-US" dirty="0"/>
              <a:t>Number of voxels &gt; number of networks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8225E3-AD54-79B7-EF40-F8D3AFC1A9C0}"/>
                  </a:ext>
                </a:extLst>
              </p14:cNvPr>
              <p14:cNvContentPartPr/>
              <p14:nvPr/>
            </p14:nvContentPartPr>
            <p14:xfrm>
              <a:off x="2389510" y="5003251"/>
              <a:ext cx="8028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8225E3-AD54-79B7-EF40-F8D3AFC1A9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85190" y="4998931"/>
                <a:ext cx="88920" cy="16560"/>
              </a:xfrm>
              <a:prstGeom prst="rect">
                <a:avLst/>
              </a:prstGeom>
            </p:spPr>
          </p:pic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293205-B32F-42E4-8378-4A3FC18EC5F3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B39C8D-54F4-B4C3-0B97-7DA1B82947A5}"/>
              </a:ext>
            </a:extLst>
          </p:cNvPr>
          <p:cNvCxnSpPr>
            <a:cxnSpLocks/>
          </p:cNvCxnSpPr>
          <p:nvPr/>
        </p:nvCxnSpPr>
        <p:spPr>
          <a:xfrm>
            <a:off x="7882759" y="6573188"/>
            <a:ext cx="4309241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0EBA137-F448-634E-E6C2-1A6115C76024}"/>
              </a:ext>
            </a:extLst>
          </p:cNvPr>
          <p:cNvSpPr txBox="1"/>
          <p:nvPr/>
        </p:nvSpPr>
        <p:spPr>
          <a:xfrm>
            <a:off x="4409090" y="6373133"/>
            <a:ext cx="42146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9" name="Delay 18">
            <a:extLst>
              <a:ext uri="{FF2B5EF4-FFF2-40B4-BE49-F238E27FC236}">
                <a16:creationId xmlns:a16="http://schemas.microsoft.com/office/drawing/2014/main" id="{BC420560-D51B-B580-C969-93E028B2FD88}"/>
              </a:ext>
            </a:extLst>
          </p:cNvPr>
          <p:cNvSpPr/>
          <p:nvPr/>
        </p:nvSpPr>
        <p:spPr>
          <a:xfrm>
            <a:off x="0" y="18229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34941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47A1C8-FD83-FB0F-D4F7-388877B6E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72" y="0"/>
            <a:ext cx="10351905" cy="67732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41BCCF-582A-8E27-1389-AD801F048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16" y="344103"/>
            <a:ext cx="6349340" cy="25744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C30AE6-2444-51B6-7132-53B09A45E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812" y="979996"/>
            <a:ext cx="2730500" cy="165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8FD298-4D38-F9AF-2227-F91FD5665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523" y="3089218"/>
            <a:ext cx="7772400" cy="7559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CEADDF-C151-0BB0-0A8D-7676179F51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034" y="4090568"/>
            <a:ext cx="7772400" cy="15106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C868FF-B4DB-6FFF-9C05-E66A6B5423E2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45FF79-247C-85AA-05FD-A090C092824B}"/>
              </a:ext>
            </a:extLst>
          </p:cNvPr>
          <p:cNvCxnSpPr>
            <a:cxnSpLocks/>
          </p:cNvCxnSpPr>
          <p:nvPr/>
        </p:nvCxnSpPr>
        <p:spPr>
          <a:xfrm>
            <a:off x="7841812" y="6573188"/>
            <a:ext cx="4350188" cy="3072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C5C075E-ABA1-5194-3ED8-70319C66ADF7}"/>
              </a:ext>
            </a:extLst>
          </p:cNvPr>
          <p:cNvSpPr txBox="1"/>
          <p:nvPr/>
        </p:nvSpPr>
        <p:spPr>
          <a:xfrm>
            <a:off x="4398579" y="6373133"/>
            <a:ext cx="3541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6" name="Delay 15">
            <a:extLst>
              <a:ext uri="{FF2B5EF4-FFF2-40B4-BE49-F238E27FC236}">
                <a16:creationId xmlns:a16="http://schemas.microsoft.com/office/drawing/2014/main" id="{4922AA14-8053-D556-4D7B-5F825DF28525}"/>
              </a:ext>
            </a:extLst>
          </p:cNvPr>
          <p:cNvSpPr/>
          <p:nvPr/>
        </p:nvSpPr>
        <p:spPr>
          <a:xfrm>
            <a:off x="0" y="84757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24317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C8726C-43B7-5D9F-17D2-6F9B60D3B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72" y="0"/>
            <a:ext cx="10351905" cy="67732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2B01BA-1725-B946-D2CE-7714E68AF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34" y="329036"/>
            <a:ext cx="3926146" cy="3099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EE7711-527C-3895-01E8-57CAF5A94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168" y="3429000"/>
            <a:ext cx="6390289" cy="231447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3B0980D-5224-4E7C-9302-41EA67318562}"/>
              </a:ext>
            </a:extLst>
          </p:cNvPr>
          <p:cNvSpPr/>
          <p:nvPr/>
        </p:nvSpPr>
        <p:spPr>
          <a:xfrm>
            <a:off x="1576552" y="474280"/>
            <a:ext cx="3836276" cy="248044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Dual Regression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Two steps that both involve multiple regression: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-Extract subject time-series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-Extract subject maps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428CCD-3DAB-3E3E-AD87-53359DA28185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96180C-EDA1-E88F-1142-8213703428D2}"/>
              </a:ext>
            </a:extLst>
          </p:cNvPr>
          <p:cNvCxnSpPr>
            <a:cxnSpLocks/>
          </p:cNvCxnSpPr>
          <p:nvPr/>
        </p:nvCxnSpPr>
        <p:spPr>
          <a:xfrm flipV="1">
            <a:off x="7751207" y="6595443"/>
            <a:ext cx="4440793" cy="847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7B8C63B-B7D4-DF23-F6FD-B3F0AD265118}"/>
              </a:ext>
            </a:extLst>
          </p:cNvPr>
          <p:cNvSpPr txBox="1"/>
          <p:nvPr/>
        </p:nvSpPr>
        <p:spPr>
          <a:xfrm>
            <a:off x="4383595" y="6373133"/>
            <a:ext cx="3499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4" name="Delay 13">
            <a:extLst>
              <a:ext uri="{FF2B5EF4-FFF2-40B4-BE49-F238E27FC236}">
                <a16:creationId xmlns:a16="http://schemas.microsoft.com/office/drawing/2014/main" id="{5A2269A6-4B3F-9FE1-41B8-565458D483F2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20208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67D953-82A3-34B6-D293-374AE3EB4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72" y="0"/>
            <a:ext cx="10351905" cy="6773243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E11B7B2-341F-36B2-BDC4-3822E1FAC0E9}"/>
              </a:ext>
            </a:extLst>
          </p:cNvPr>
          <p:cNvSpPr/>
          <p:nvPr/>
        </p:nvSpPr>
        <p:spPr>
          <a:xfrm>
            <a:off x="3452996" y="270844"/>
            <a:ext cx="4419252" cy="77372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ICA in Denoising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68FDA-A75E-E2F7-D889-168D6ADD7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324" y="1315411"/>
            <a:ext cx="7772400" cy="389038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267F1A-3C5C-AB19-34D3-CCD2E36282CF}"/>
              </a:ext>
            </a:extLst>
          </p:cNvPr>
          <p:cNvCxnSpPr>
            <a:cxnSpLocks/>
          </p:cNvCxnSpPr>
          <p:nvPr/>
        </p:nvCxnSpPr>
        <p:spPr>
          <a:xfrm>
            <a:off x="0" y="6603913"/>
            <a:ext cx="447224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EE8B70-8B3F-4107-D605-AFBD9ED5035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8014232" y="6587156"/>
            <a:ext cx="4167446" cy="13024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877BD65-7BE3-3824-5C29-EDC5F7754E09}"/>
              </a:ext>
            </a:extLst>
          </p:cNvPr>
          <p:cNvSpPr txBox="1"/>
          <p:nvPr/>
        </p:nvSpPr>
        <p:spPr>
          <a:xfrm>
            <a:off x="4472246" y="6387101"/>
            <a:ext cx="3541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2" name="Delay 11">
            <a:extLst>
              <a:ext uri="{FF2B5EF4-FFF2-40B4-BE49-F238E27FC236}">
                <a16:creationId xmlns:a16="http://schemas.microsoft.com/office/drawing/2014/main" id="{7B22F196-941D-EED2-C332-1EF213DD49BF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49064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BE4630-6B02-7542-9861-D1FE181A6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72" y="254086"/>
            <a:ext cx="10351905" cy="6773243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620632F-4723-6827-F8D5-59E6028EB5A7}"/>
              </a:ext>
            </a:extLst>
          </p:cNvPr>
          <p:cNvSpPr/>
          <p:nvPr/>
        </p:nvSpPr>
        <p:spPr>
          <a:xfrm>
            <a:off x="3291840" y="1597793"/>
            <a:ext cx="5457524" cy="118390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AF1D0E-C319-56AA-7E08-BB415A9B3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621" y="3055798"/>
            <a:ext cx="377925" cy="3732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004BCA-4602-1DC0-9C54-A38721EA7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621" y="3490955"/>
            <a:ext cx="424285" cy="4242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51C5EC-66CE-6CC1-D98F-0B7A417C3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621" y="3977195"/>
            <a:ext cx="387066" cy="392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19F6E1-BF2A-9DA5-35E4-E0E216556D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701750" y="4435467"/>
            <a:ext cx="394796" cy="4242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816504-4FF1-B5E0-E916-1C01EFB0B428}"/>
              </a:ext>
            </a:extLst>
          </p:cNvPr>
          <p:cNvSpPr txBox="1"/>
          <p:nvPr/>
        </p:nvSpPr>
        <p:spPr>
          <a:xfrm>
            <a:off x="4142906" y="3063634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1"/>
              <a:t>@IDSchools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D25BDD-6CBA-6621-03CA-A43AB8901BE0}"/>
              </a:ext>
            </a:extLst>
          </p:cNvPr>
          <p:cNvSpPr txBox="1"/>
          <p:nvPr/>
        </p:nvSpPr>
        <p:spPr>
          <a:xfrm>
            <a:off x="4065109" y="3536936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@</a:t>
            </a:r>
            <a:r>
              <a:rPr lang="en-US" sz="1800" noProof="1"/>
              <a:t>Interdisciplinaryschools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CCA647-324A-E355-0D8A-2DD7187A7D5F}"/>
              </a:ext>
            </a:extLst>
          </p:cNvPr>
          <p:cNvSpPr txBox="1"/>
          <p:nvPr/>
        </p:nvSpPr>
        <p:spPr>
          <a:xfrm>
            <a:off x="4065109" y="3964257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@interdisciplinary-schools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DFD9B1-42FB-A8EE-0CC8-E10018B7DF5C}"/>
              </a:ext>
            </a:extLst>
          </p:cNvPr>
          <p:cNvSpPr txBox="1"/>
          <p:nvPr/>
        </p:nvSpPr>
        <p:spPr>
          <a:xfrm>
            <a:off x="4105687" y="4447003"/>
            <a:ext cx="6101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noProof="1"/>
              <a:t>https://interdisciplinaryschools.com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12E293-D479-BF36-2B05-F2229CB1B86E}"/>
              </a:ext>
            </a:extLst>
          </p:cNvPr>
          <p:cNvSpPr txBox="1"/>
          <p:nvPr/>
        </p:nvSpPr>
        <p:spPr>
          <a:xfrm>
            <a:off x="85913" y="6403859"/>
            <a:ext cx="40569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Interdisciplinary schools|2026</a:t>
            </a:r>
          </a:p>
        </p:txBody>
      </p:sp>
      <p:sp>
        <p:nvSpPr>
          <p:cNvPr id="18" name="Delay 17">
            <a:extLst>
              <a:ext uri="{FF2B5EF4-FFF2-40B4-BE49-F238E27FC236}">
                <a16:creationId xmlns:a16="http://schemas.microsoft.com/office/drawing/2014/main" id="{E7A8B865-A5EC-7C9B-7756-8CE9F545FCB2}"/>
              </a:ext>
            </a:extLst>
          </p:cNvPr>
          <p:cNvSpPr/>
          <p:nvPr/>
        </p:nvSpPr>
        <p:spPr>
          <a:xfrm>
            <a:off x="-3127" y="365900"/>
            <a:ext cx="849394" cy="636504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164237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335</Words>
  <Application>Microsoft Macintosh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vip3903</dc:creator>
  <cp:lastModifiedBy>vip3903</cp:lastModifiedBy>
  <cp:revision>3</cp:revision>
  <dcterms:created xsi:type="dcterms:W3CDTF">2026-09-20T18:54:41Z</dcterms:created>
  <dcterms:modified xsi:type="dcterms:W3CDTF">2026-10-05T16:06:44Z</dcterms:modified>
</cp:coreProperties>
</file>